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4" r:id="rId10"/>
  </p:sldIdLst>
  <p:sldSz cx="18288000" cy="10287000"/>
  <p:notesSz cx="6858000" cy="9144000"/>
  <p:embeddedFontLst>
    <p:embeddedFont>
      <p:font typeface="Verdana" panose="020B0604030504040204" charset="0"/>
      <p:regular r:id="rId14"/>
      <p:bold r:id="rId15"/>
      <p:italic r:id="rId16"/>
      <p:boldItalic r:id="rId17"/>
    </p:embeddedFont>
    <p:embeddedFont>
      <p:font typeface="Cabin Bold" panose="00000800000000000000"/>
      <p:bold r:id="rId18"/>
    </p:embeddedFont>
    <p:embeddedFont>
      <p:font typeface="Trebuchet MS" panose="020B0603020202020204" charset="0"/>
      <p:regular r:id="rId19"/>
      <p:bold r:id="rId20"/>
      <p:italic r:id="rId21"/>
      <p:boldItalic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3.fntdata"/><Relationship Id="rId25" Type="http://schemas.openxmlformats.org/officeDocument/2006/relationships/font" Target="fonts/font12.fntdata"/><Relationship Id="rId24" Type="http://schemas.openxmlformats.org/officeDocument/2006/relationships/font" Target="fonts/font11.fntdata"/><Relationship Id="rId23" Type="http://schemas.openxmlformats.org/officeDocument/2006/relationships/font" Target="fonts/font10.fntdata"/><Relationship Id="rId22" Type="http://schemas.openxmlformats.org/officeDocument/2006/relationships/font" Target="fonts/font9.fntdata"/><Relationship Id="rId21" Type="http://schemas.openxmlformats.org/officeDocument/2006/relationships/font" Target="fonts/font8.fntdata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ình giữ chỗ đầ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Phần giữ chỗ ngà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vi-VN" smtClean="0"/>
            </a:fld>
            <a:endParaRPr lang="vi-VN"/>
          </a:p>
        </p:txBody>
      </p:sp>
      <p:sp>
        <p:nvSpPr>
          <p:cNvPr id="4" name="Phần giữ chỗ hình ảnh trang chiế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Trình giữ chỗ Ghi ch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 smtClean="0"/>
              <a:t>Nhấp để chỉnh sửa kiểu văn bản trang chiếu cái</a:t>
            </a:r>
            <a:endParaRPr lang="vi-VN" smtClean="0"/>
          </a:p>
          <a:p>
            <a:pPr lvl="1"/>
            <a:r>
              <a:rPr lang="vi-VN" smtClean="0"/>
              <a:t>Cấp độ thứ hai</a:t>
            </a:r>
            <a:endParaRPr lang="vi-VN" smtClean="0"/>
          </a:p>
          <a:p>
            <a:pPr lvl="2"/>
            <a:r>
              <a:rPr lang="vi-VN" smtClean="0"/>
              <a:t>Cấp độ thứ ba</a:t>
            </a:r>
            <a:endParaRPr lang="vi-VN" smtClean="0"/>
          </a:p>
          <a:p>
            <a:pPr lvl="3"/>
            <a:r>
              <a:rPr lang="vi-VN" smtClean="0"/>
              <a:t>Cấp độ thứ tư</a:t>
            </a:r>
            <a:endParaRPr lang="vi-VN" smtClean="0"/>
          </a:p>
          <a:p>
            <a:pPr lvl="4"/>
            <a:r>
              <a:rPr lang="vi-VN" smtClean="0"/>
              <a:t>Cấp độ thứ năm</a:t>
            </a:r>
            <a:endParaRPr lang="vi-VN"/>
          </a:p>
        </p:txBody>
      </p:sp>
      <p:sp>
        <p:nvSpPr>
          <p:cNvPr id="6" name="Trình giữ chỗ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Trình giữ chỗ số trang chiế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vi-VN" smtClean="0"/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rình giữ chỗ hình ảnh trang chiếu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rình giữ chỗ Văn bản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vi-V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4.png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.png"/><Relationship Id="rId7" Type="http://schemas.openxmlformats.org/officeDocument/2006/relationships/image" Target="../media/image11.png"/><Relationship Id="rId6" Type="http://schemas.openxmlformats.org/officeDocument/2006/relationships/image" Target="../media/image16.png"/><Relationship Id="rId5" Type="http://schemas.openxmlformats.org/officeDocument/2006/relationships/image" Target="../media/image5.png"/><Relationship Id="rId4" Type="http://schemas.openxmlformats.org/officeDocument/2006/relationships/image" Target="../media/image15.png"/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5127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5274" y="7003400"/>
            <a:ext cx="13146511" cy="2810067"/>
          </a:xfrm>
          <a:custGeom>
            <a:avLst/>
            <a:gdLst/>
            <a:ahLst/>
            <a:cxnLst/>
            <a:rect l="l" t="t" r="r" b="b"/>
            <a:pathLst>
              <a:path w="13146511" h="2810067">
                <a:moveTo>
                  <a:pt x="0" y="0"/>
                </a:moveTo>
                <a:lnTo>
                  <a:pt x="13146511" y="0"/>
                </a:lnTo>
                <a:lnTo>
                  <a:pt x="13146511" y="2810067"/>
                </a:lnTo>
                <a:lnTo>
                  <a:pt x="0" y="2810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37897">
            <a:off x="5906965" y="7822550"/>
            <a:ext cx="14803128" cy="6130962"/>
          </a:xfrm>
          <a:custGeom>
            <a:avLst/>
            <a:gdLst/>
            <a:ahLst/>
            <a:cxnLst/>
            <a:rect l="l" t="t" r="r" b="b"/>
            <a:pathLst>
              <a:path w="14803128" h="6130962">
                <a:moveTo>
                  <a:pt x="0" y="0"/>
                </a:moveTo>
                <a:lnTo>
                  <a:pt x="14803128" y="0"/>
                </a:lnTo>
                <a:lnTo>
                  <a:pt x="14803128" y="6130963"/>
                </a:lnTo>
                <a:lnTo>
                  <a:pt x="0" y="6130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757471" y="3580541"/>
            <a:ext cx="9299045" cy="9655786"/>
          </a:xfrm>
          <a:custGeom>
            <a:avLst/>
            <a:gdLst/>
            <a:ahLst/>
            <a:cxnLst/>
            <a:rect l="l" t="t" r="r" b="b"/>
            <a:pathLst>
              <a:path w="9299045" h="9655786">
                <a:moveTo>
                  <a:pt x="9299045" y="0"/>
                </a:moveTo>
                <a:lnTo>
                  <a:pt x="0" y="0"/>
                </a:lnTo>
                <a:lnTo>
                  <a:pt x="0" y="9655786"/>
                </a:lnTo>
                <a:lnTo>
                  <a:pt x="9299045" y="9655786"/>
                </a:lnTo>
                <a:lnTo>
                  <a:pt x="9299045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2798342" y="0"/>
            <a:ext cx="4518946" cy="3886293"/>
          </a:xfrm>
          <a:custGeom>
            <a:avLst/>
            <a:gdLst/>
            <a:ahLst/>
            <a:cxnLst/>
            <a:rect l="l" t="t" r="r" b="b"/>
            <a:pathLst>
              <a:path w="4518946" h="3886293">
                <a:moveTo>
                  <a:pt x="4518946" y="0"/>
                </a:moveTo>
                <a:lnTo>
                  <a:pt x="0" y="0"/>
                </a:lnTo>
                <a:lnTo>
                  <a:pt x="0" y="3886293"/>
                </a:lnTo>
                <a:lnTo>
                  <a:pt x="4518946" y="3886293"/>
                </a:lnTo>
                <a:lnTo>
                  <a:pt x="4518946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348520" y="7658799"/>
            <a:ext cx="6175747" cy="2628201"/>
          </a:xfrm>
          <a:custGeom>
            <a:avLst/>
            <a:gdLst/>
            <a:ahLst/>
            <a:cxnLst/>
            <a:rect l="l" t="t" r="r" b="b"/>
            <a:pathLst>
              <a:path w="6175747" h="2628201">
                <a:moveTo>
                  <a:pt x="0" y="0"/>
                </a:moveTo>
                <a:lnTo>
                  <a:pt x="6175747" y="0"/>
                </a:lnTo>
                <a:lnTo>
                  <a:pt x="6175747" y="2628201"/>
                </a:lnTo>
                <a:lnTo>
                  <a:pt x="0" y="2628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0" y="7658799"/>
            <a:ext cx="6175747" cy="2628201"/>
          </a:xfrm>
          <a:custGeom>
            <a:avLst/>
            <a:gdLst/>
            <a:ahLst/>
            <a:cxnLst/>
            <a:rect l="l" t="t" r="r" b="b"/>
            <a:pathLst>
              <a:path w="6175747" h="2628201">
                <a:moveTo>
                  <a:pt x="6175747" y="0"/>
                </a:moveTo>
                <a:lnTo>
                  <a:pt x="0" y="0"/>
                </a:lnTo>
                <a:lnTo>
                  <a:pt x="0" y="2628201"/>
                </a:lnTo>
                <a:lnTo>
                  <a:pt x="6175747" y="2628201"/>
                </a:lnTo>
                <a:lnTo>
                  <a:pt x="6175747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611357" y="479695"/>
            <a:ext cx="6363834" cy="5472897"/>
          </a:xfrm>
          <a:custGeom>
            <a:avLst/>
            <a:gdLst/>
            <a:ahLst/>
            <a:cxnLst/>
            <a:rect l="l" t="t" r="r" b="b"/>
            <a:pathLst>
              <a:path w="6363834" h="5472897">
                <a:moveTo>
                  <a:pt x="0" y="0"/>
                </a:moveTo>
                <a:lnTo>
                  <a:pt x="6363834" y="0"/>
                </a:lnTo>
                <a:lnTo>
                  <a:pt x="6363834" y="5472897"/>
                </a:lnTo>
                <a:lnTo>
                  <a:pt x="0" y="54728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159605" y="5503269"/>
            <a:ext cx="899772" cy="898647"/>
          </a:xfrm>
          <a:custGeom>
            <a:avLst/>
            <a:gdLst/>
            <a:ahLst/>
            <a:cxnLst/>
            <a:rect l="l" t="t" r="r" b="b"/>
            <a:pathLst>
              <a:path w="899772" h="898647">
                <a:moveTo>
                  <a:pt x="0" y="0"/>
                </a:moveTo>
                <a:lnTo>
                  <a:pt x="899772" y="0"/>
                </a:lnTo>
                <a:lnTo>
                  <a:pt x="899772" y="898647"/>
                </a:lnTo>
                <a:lnTo>
                  <a:pt x="0" y="8986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4566808">
            <a:off x="4303116" y="-800479"/>
            <a:ext cx="1799089" cy="1796840"/>
          </a:xfrm>
          <a:custGeom>
            <a:avLst/>
            <a:gdLst/>
            <a:ahLst/>
            <a:cxnLst/>
            <a:rect l="l" t="t" r="r" b="b"/>
            <a:pathLst>
              <a:path w="1799089" h="1796840">
                <a:moveTo>
                  <a:pt x="0" y="0"/>
                </a:moveTo>
                <a:lnTo>
                  <a:pt x="1799089" y="0"/>
                </a:lnTo>
                <a:lnTo>
                  <a:pt x="1799089" y="1796840"/>
                </a:lnTo>
                <a:lnTo>
                  <a:pt x="0" y="1796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0" y="3169730"/>
            <a:ext cx="18524267" cy="1671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40"/>
              </a:lnSpc>
            </a:pPr>
            <a:r>
              <a:rPr lang="en-US" sz="13040" spc="-260">
                <a:solidFill>
                  <a:srgbClr val="426546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My Favourite Village</a:t>
            </a:r>
            <a:endParaRPr lang="en-US" sz="13040" spc="-260">
              <a:solidFill>
                <a:srgbClr val="426546"/>
              </a:solidFill>
              <a:latin typeface="Verdana" panose="020B0604030504040204" charset="0"/>
              <a:ea typeface="Genty Sans" panose="00000600000000000000"/>
              <a:cs typeface="Verdana" panose="020B0604030504040204" charset="0"/>
              <a:sym typeface="Genty Sans" panose="000006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28700" y="5236115"/>
            <a:ext cx="16230600" cy="64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0"/>
              </a:lnSpc>
            </a:pPr>
            <a:r>
              <a:rPr lang="en-US" sz="3895" spc="-77">
                <a:solidFill>
                  <a:srgbClr val="545454"/>
                </a:solidFill>
                <a:latin typeface="Verdana" panose="020B0604030504040204" charset="0"/>
                <a:ea typeface="Prachason Neue Mon"/>
                <a:cs typeface="Verdana" panose="020B0604030504040204" charset="0"/>
                <a:sym typeface="Prachason Neue Mon"/>
              </a:rPr>
              <a:t>A</a:t>
            </a:r>
            <a:r>
              <a:rPr lang="en-US" sz="3895" spc="-77">
                <a:solidFill>
                  <a:srgbClr val="545454"/>
                </a:solidFill>
                <a:latin typeface="Verdana" panose="020B0604030504040204" charset="0"/>
                <a:ea typeface="Prachason Neue Mon"/>
                <a:cs typeface="Verdana" panose="020B0604030504040204" charset="0"/>
                <a:sym typeface="Prachason Neue Mon"/>
              </a:rPr>
              <a:t> presentation product by group 2</a:t>
            </a:r>
            <a:endParaRPr lang="en-US" sz="3895" spc="-77">
              <a:solidFill>
                <a:srgbClr val="545454"/>
              </a:solidFill>
              <a:latin typeface="Verdana" panose="020B0604030504040204" charset="0"/>
              <a:ea typeface="Prachason Neue Mon"/>
              <a:cs typeface="Verdana" panose="020B0604030504040204" charset="0"/>
              <a:sym typeface="Prachason Neue Mo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5127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159415" y="4077281"/>
            <a:ext cx="6050089" cy="4760528"/>
          </a:xfrm>
          <a:custGeom>
            <a:avLst/>
            <a:gdLst/>
            <a:ahLst/>
            <a:cxnLst/>
            <a:rect l="l" t="t" r="r" b="b"/>
            <a:pathLst>
              <a:path w="6050089" h="4760528">
                <a:moveTo>
                  <a:pt x="0" y="0"/>
                </a:moveTo>
                <a:lnTo>
                  <a:pt x="6050088" y="0"/>
                </a:lnTo>
                <a:lnTo>
                  <a:pt x="6050088" y="4760528"/>
                </a:lnTo>
                <a:lnTo>
                  <a:pt x="0" y="4760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921503" y="4077281"/>
            <a:ext cx="6050089" cy="4760528"/>
          </a:xfrm>
          <a:custGeom>
            <a:avLst/>
            <a:gdLst/>
            <a:ahLst/>
            <a:cxnLst/>
            <a:rect l="l" t="t" r="r" b="b"/>
            <a:pathLst>
              <a:path w="6050089" h="4760528">
                <a:moveTo>
                  <a:pt x="6050088" y="0"/>
                </a:moveTo>
                <a:lnTo>
                  <a:pt x="0" y="0"/>
                </a:lnTo>
                <a:lnTo>
                  <a:pt x="0" y="4760528"/>
                </a:lnTo>
                <a:lnTo>
                  <a:pt x="6050088" y="4760528"/>
                </a:lnTo>
                <a:lnTo>
                  <a:pt x="605008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735274" y="7003400"/>
            <a:ext cx="13146511" cy="2810067"/>
          </a:xfrm>
          <a:custGeom>
            <a:avLst/>
            <a:gdLst/>
            <a:ahLst/>
            <a:cxnLst/>
            <a:rect l="l" t="t" r="r" b="b"/>
            <a:pathLst>
              <a:path w="13146511" h="2810067">
                <a:moveTo>
                  <a:pt x="0" y="0"/>
                </a:moveTo>
                <a:lnTo>
                  <a:pt x="13146511" y="0"/>
                </a:lnTo>
                <a:lnTo>
                  <a:pt x="13146511" y="2810067"/>
                </a:lnTo>
                <a:lnTo>
                  <a:pt x="0" y="28100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37897">
            <a:off x="5906965" y="7822550"/>
            <a:ext cx="14803128" cy="6130962"/>
          </a:xfrm>
          <a:custGeom>
            <a:avLst/>
            <a:gdLst/>
            <a:ahLst/>
            <a:cxnLst/>
            <a:rect l="l" t="t" r="r" b="b"/>
            <a:pathLst>
              <a:path w="14803128" h="6130962">
                <a:moveTo>
                  <a:pt x="0" y="0"/>
                </a:moveTo>
                <a:lnTo>
                  <a:pt x="14803128" y="0"/>
                </a:lnTo>
                <a:lnTo>
                  <a:pt x="14803128" y="6130963"/>
                </a:lnTo>
                <a:lnTo>
                  <a:pt x="0" y="6130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740364" y="-1536009"/>
            <a:ext cx="6524473" cy="5331508"/>
          </a:xfrm>
          <a:custGeom>
            <a:avLst/>
            <a:gdLst/>
            <a:ahLst/>
            <a:cxnLst/>
            <a:rect l="l" t="t" r="r" b="b"/>
            <a:pathLst>
              <a:path w="6524473" h="5331508">
                <a:moveTo>
                  <a:pt x="6524474" y="0"/>
                </a:moveTo>
                <a:lnTo>
                  <a:pt x="0" y="0"/>
                </a:lnTo>
                <a:lnTo>
                  <a:pt x="0" y="5331508"/>
                </a:lnTo>
                <a:lnTo>
                  <a:pt x="6524474" y="5331508"/>
                </a:lnTo>
                <a:lnTo>
                  <a:pt x="6524474" y="0"/>
                </a:lnTo>
                <a:close/>
              </a:path>
            </a:pathLst>
          </a:custGeom>
          <a:blipFill>
            <a:blip r:embed="rId5"/>
            <a:stretch>
              <a:fillRect b="-5243"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-757471" y="3580541"/>
            <a:ext cx="9299045" cy="9655786"/>
          </a:xfrm>
          <a:custGeom>
            <a:avLst/>
            <a:gdLst/>
            <a:ahLst/>
            <a:cxnLst/>
            <a:rect l="l" t="t" r="r" b="b"/>
            <a:pathLst>
              <a:path w="9299045" h="9655786">
                <a:moveTo>
                  <a:pt x="9299045" y="0"/>
                </a:moveTo>
                <a:lnTo>
                  <a:pt x="0" y="0"/>
                </a:lnTo>
                <a:lnTo>
                  <a:pt x="0" y="9655786"/>
                </a:lnTo>
                <a:lnTo>
                  <a:pt x="9299045" y="9655786"/>
                </a:lnTo>
                <a:lnTo>
                  <a:pt x="9299045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997063" y="-1533766"/>
            <a:ext cx="6524473" cy="5611047"/>
          </a:xfrm>
          <a:custGeom>
            <a:avLst/>
            <a:gdLst/>
            <a:ahLst/>
            <a:cxnLst/>
            <a:rect l="l" t="t" r="r" b="b"/>
            <a:pathLst>
              <a:path w="6524473" h="5611047">
                <a:moveTo>
                  <a:pt x="0" y="0"/>
                </a:moveTo>
                <a:lnTo>
                  <a:pt x="6524474" y="0"/>
                </a:lnTo>
                <a:lnTo>
                  <a:pt x="6524474" y="5611047"/>
                </a:lnTo>
                <a:lnTo>
                  <a:pt x="0" y="56110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400000" flipV="1">
            <a:off x="14834881" y="2124794"/>
            <a:ext cx="1437771" cy="1435973"/>
          </a:xfrm>
          <a:custGeom>
            <a:avLst/>
            <a:gdLst/>
            <a:ahLst/>
            <a:cxnLst/>
            <a:rect l="l" t="t" r="r" b="b"/>
            <a:pathLst>
              <a:path w="1437771" h="1435973">
                <a:moveTo>
                  <a:pt x="0" y="1435973"/>
                </a:moveTo>
                <a:lnTo>
                  <a:pt x="1437771" y="1435973"/>
                </a:lnTo>
                <a:lnTo>
                  <a:pt x="1437771" y="0"/>
                </a:lnTo>
                <a:lnTo>
                  <a:pt x="0" y="0"/>
                </a:lnTo>
                <a:lnTo>
                  <a:pt x="0" y="1435973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335264" flipV="1">
            <a:off x="2512442" y="2995668"/>
            <a:ext cx="937932" cy="936759"/>
          </a:xfrm>
          <a:custGeom>
            <a:avLst/>
            <a:gdLst/>
            <a:ahLst/>
            <a:cxnLst/>
            <a:rect l="l" t="t" r="r" b="b"/>
            <a:pathLst>
              <a:path w="937932" h="936759">
                <a:moveTo>
                  <a:pt x="0" y="936759"/>
                </a:moveTo>
                <a:lnTo>
                  <a:pt x="937932" y="936759"/>
                </a:lnTo>
                <a:lnTo>
                  <a:pt x="937932" y="0"/>
                </a:lnTo>
                <a:lnTo>
                  <a:pt x="0" y="0"/>
                </a:lnTo>
                <a:lnTo>
                  <a:pt x="0" y="936759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722698" y="165815"/>
            <a:ext cx="10283525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spc="-144">
                <a:solidFill>
                  <a:srgbClr val="426546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Members</a:t>
            </a:r>
            <a:endParaRPr lang="en-US" sz="7200" spc="-144">
              <a:solidFill>
                <a:srgbClr val="426546"/>
              </a:solidFill>
              <a:latin typeface="Verdana" panose="020B0604030504040204" charset="0"/>
              <a:ea typeface="Genty Sans" panose="00000600000000000000"/>
              <a:cs typeface="Verdana" panose="020B0604030504040204" charset="0"/>
              <a:sym typeface="Genty Sans" panose="00000600000000000000"/>
            </a:endParaRPr>
          </a:p>
        </p:txBody>
      </p:sp>
      <p:grpSp>
        <p:nvGrpSpPr>
          <p:cNvPr id="13" name="Group 13"/>
          <p:cNvGrpSpPr/>
          <p:nvPr/>
        </p:nvGrpSpPr>
        <p:grpSpPr>
          <a:xfrm rot="0">
            <a:off x="0" y="1545870"/>
            <a:ext cx="18418720" cy="9342162"/>
            <a:chOff x="0" y="0"/>
            <a:chExt cx="4851021" cy="24604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51021" cy="2460487"/>
            </a:xfrm>
            <a:custGeom>
              <a:avLst/>
              <a:gdLst/>
              <a:ahLst/>
              <a:cxnLst/>
              <a:rect l="l" t="t" r="r" b="b"/>
              <a:pathLst>
                <a:path w="4851021" h="2460487">
                  <a:moveTo>
                    <a:pt x="14291" y="0"/>
                  </a:moveTo>
                  <a:lnTo>
                    <a:pt x="4836730" y="0"/>
                  </a:lnTo>
                  <a:cubicBezTo>
                    <a:pt x="4840520" y="0"/>
                    <a:pt x="4844155" y="1506"/>
                    <a:pt x="4846835" y="4186"/>
                  </a:cubicBezTo>
                  <a:cubicBezTo>
                    <a:pt x="4849515" y="6866"/>
                    <a:pt x="4851021" y="10501"/>
                    <a:pt x="4851021" y="14291"/>
                  </a:cubicBezTo>
                  <a:lnTo>
                    <a:pt x="4851021" y="2446196"/>
                  </a:lnTo>
                  <a:cubicBezTo>
                    <a:pt x="4851021" y="2454089"/>
                    <a:pt x="4844623" y="2460487"/>
                    <a:pt x="4836730" y="2460487"/>
                  </a:cubicBezTo>
                  <a:lnTo>
                    <a:pt x="14291" y="2460487"/>
                  </a:lnTo>
                  <a:cubicBezTo>
                    <a:pt x="10501" y="2460487"/>
                    <a:pt x="6866" y="2458981"/>
                    <a:pt x="4186" y="2456301"/>
                  </a:cubicBezTo>
                  <a:cubicBezTo>
                    <a:pt x="1506" y="2453621"/>
                    <a:pt x="0" y="2449986"/>
                    <a:pt x="0" y="2446196"/>
                  </a:cubicBezTo>
                  <a:lnTo>
                    <a:pt x="0" y="14291"/>
                  </a:lnTo>
                  <a:cubicBezTo>
                    <a:pt x="0" y="6398"/>
                    <a:pt x="6398" y="0"/>
                    <a:pt x="1429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42875"/>
              <a:ext cx="4851021" cy="2603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3541" y="1431570"/>
            <a:ext cx="8438033" cy="9446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0"/>
              </a:lnSpc>
            </a:pPr>
            <a:r>
              <a:rPr lang="en-US" sz="6200" b="1">
                <a:solidFill>
                  <a:srgbClr val="426546"/>
                </a:solidFill>
                <a:latin typeface="Cabin Bold" panose="00000800000000000000"/>
                <a:ea typeface="Cabin Bold" panose="00000800000000000000"/>
                <a:cs typeface="Cabin Bold" panose="00000800000000000000"/>
                <a:sym typeface="Cabin Bold" panose="00000800000000000000"/>
              </a:rPr>
              <a:t>1.LÊ THỊ KIỀU ANH</a:t>
            </a:r>
            <a:endParaRPr lang="en-US" sz="6200" b="1">
              <a:solidFill>
                <a:srgbClr val="426546"/>
              </a:solidFill>
              <a:latin typeface="Cabin Bold" panose="00000800000000000000"/>
              <a:ea typeface="Cabin Bold" panose="00000800000000000000"/>
              <a:cs typeface="Cabin Bold" panose="00000800000000000000"/>
              <a:sym typeface="Cabin Bold" panose="00000800000000000000"/>
            </a:endParaRPr>
          </a:p>
          <a:p>
            <a:pPr algn="l">
              <a:lnSpc>
                <a:spcPts val="8820"/>
              </a:lnSpc>
            </a:pPr>
            <a:r>
              <a:rPr lang="en-US" sz="6300" b="1">
                <a:solidFill>
                  <a:srgbClr val="426546"/>
                </a:solidFill>
                <a:latin typeface="Cabin Bold" panose="00000800000000000000"/>
                <a:ea typeface="Cabin Bold" panose="00000800000000000000"/>
                <a:cs typeface="Cabin Bold" panose="00000800000000000000"/>
                <a:sym typeface="Cabin Bold" panose="00000800000000000000"/>
              </a:rPr>
              <a:t>2.TRẦN CHẤN PHONG</a:t>
            </a:r>
            <a:endParaRPr lang="en-US" sz="6300" b="1">
              <a:solidFill>
                <a:srgbClr val="426546"/>
              </a:solidFill>
              <a:latin typeface="Cabin Bold" panose="00000800000000000000"/>
              <a:ea typeface="Cabin Bold" panose="00000800000000000000"/>
              <a:cs typeface="Cabin Bold" panose="00000800000000000000"/>
              <a:sym typeface="Cabin Bold" panose="00000800000000000000"/>
            </a:endParaRPr>
          </a:p>
          <a:p>
            <a:pPr algn="l">
              <a:lnSpc>
                <a:spcPts val="8680"/>
              </a:lnSpc>
            </a:pPr>
            <a:r>
              <a:rPr lang="en-US" sz="6200" b="1">
                <a:solidFill>
                  <a:srgbClr val="426546"/>
                </a:solidFill>
                <a:latin typeface="Cabin Bold" panose="00000800000000000000"/>
                <a:ea typeface="Cabin Bold" panose="00000800000000000000"/>
                <a:cs typeface="Cabin Bold" panose="00000800000000000000"/>
                <a:sym typeface="Cabin Bold" panose="00000800000000000000"/>
              </a:rPr>
              <a:t>3.NGUYỄN TRẦN PHƯƠNG UYÊN</a:t>
            </a:r>
            <a:endParaRPr lang="en-US" sz="6200" b="1">
              <a:solidFill>
                <a:srgbClr val="426546"/>
              </a:solidFill>
              <a:latin typeface="Cabin Bold" panose="00000800000000000000"/>
              <a:ea typeface="Cabin Bold" panose="00000800000000000000"/>
              <a:cs typeface="Cabin Bold" panose="00000800000000000000"/>
              <a:sym typeface="Cabin Bold" panose="00000800000000000000"/>
            </a:endParaRPr>
          </a:p>
          <a:p>
            <a:pPr algn="l">
              <a:lnSpc>
                <a:spcPts val="8680"/>
              </a:lnSpc>
            </a:pPr>
            <a:r>
              <a:rPr lang="en-US" sz="6200" b="1">
                <a:solidFill>
                  <a:srgbClr val="426546"/>
                </a:solidFill>
                <a:latin typeface="Cabin Bold" panose="00000800000000000000"/>
                <a:ea typeface="Cabin Bold" panose="00000800000000000000"/>
                <a:cs typeface="Cabin Bold" panose="00000800000000000000"/>
                <a:sym typeface="Cabin Bold" panose="00000800000000000000"/>
              </a:rPr>
              <a:t>4.ĐỖ ĐÌNH ANH VŨ </a:t>
            </a:r>
            <a:endParaRPr lang="en-US" sz="6200" b="1">
              <a:solidFill>
                <a:srgbClr val="426546"/>
              </a:solidFill>
              <a:latin typeface="Cabin Bold" panose="00000800000000000000"/>
              <a:ea typeface="Cabin Bold" panose="00000800000000000000"/>
              <a:cs typeface="Cabin Bold" panose="00000800000000000000"/>
              <a:sym typeface="Cabin Bold" panose="00000800000000000000"/>
            </a:endParaRPr>
          </a:p>
          <a:p>
            <a:pPr algn="l">
              <a:lnSpc>
                <a:spcPts val="8680"/>
              </a:lnSpc>
            </a:pPr>
            <a:r>
              <a:rPr lang="en-US" sz="6200" b="1">
                <a:solidFill>
                  <a:srgbClr val="426546"/>
                </a:solidFill>
                <a:latin typeface="Cabin Bold" panose="00000800000000000000"/>
                <a:ea typeface="Cabin Bold" panose="00000800000000000000"/>
                <a:cs typeface="Cabin Bold" panose="00000800000000000000"/>
                <a:sym typeface="Cabin Bold" panose="00000800000000000000"/>
              </a:rPr>
              <a:t>5. NGUYỄN TRẦN BẢO AN</a:t>
            </a:r>
            <a:endParaRPr lang="en-US" sz="6200" b="1">
              <a:solidFill>
                <a:srgbClr val="426546"/>
              </a:solidFill>
              <a:latin typeface="Cabin Bold" panose="00000800000000000000"/>
              <a:ea typeface="Cabin Bold" panose="00000800000000000000"/>
              <a:cs typeface="Cabin Bold" panose="00000800000000000000"/>
              <a:sym typeface="Cabin Bold" panose="00000800000000000000"/>
            </a:endParaRPr>
          </a:p>
          <a:p>
            <a:pPr algn="l">
              <a:lnSpc>
                <a:spcPts val="8820"/>
              </a:lnSpc>
            </a:pPr>
            <a:r>
              <a:rPr lang="en-US" sz="6300" b="1">
                <a:solidFill>
                  <a:srgbClr val="426546"/>
                </a:solidFill>
                <a:latin typeface="Cabin Bold" panose="00000800000000000000"/>
                <a:ea typeface="Cabin Bold" panose="00000800000000000000"/>
                <a:cs typeface="Cabin Bold" panose="00000800000000000000"/>
                <a:sym typeface="Cabin Bold" panose="00000800000000000000"/>
              </a:rPr>
              <a:t>6. ĐẶNG MINH QUÂN</a:t>
            </a:r>
            <a:endParaRPr lang="en-US" sz="6300" b="1">
              <a:solidFill>
                <a:srgbClr val="426546"/>
              </a:solidFill>
              <a:latin typeface="Cabin Bold" panose="00000800000000000000"/>
              <a:ea typeface="Cabin Bold" panose="00000800000000000000"/>
              <a:cs typeface="Cabin Bold" panose="00000800000000000000"/>
              <a:sym typeface="Cabin Bold" panose="00000800000000000000"/>
            </a:endParaRPr>
          </a:p>
          <a:p>
            <a:pPr algn="l">
              <a:lnSpc>
                <a:spcPts val="5180"/>
              </a:lnSpc>
            </a:pPr>
          </a:p>
        </p:txBody>
      </p:sp>
      <p:sp>
        <p:nvSpPr>
          <p:cNvPr id="17" name="TextBox 17"/>
          <p:cNvSpPr txBox="1"/>
          <p:nvPr/>
        </p:nvSpPr>
        <p:spPr>
          <a:xfrm>
            <a:off x="8541574" y="1552338"/>
            <a:ext cx="9877146" cy="8281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30"/>
              </a:lnSpc>
              <a:spcBef>
                <a:spcPct val="0"/>
              </a:spcBef>
            </a:pPr>
            <a:r>
              <a:rPr lang="en-US" sz="6180" b="1" spc="-123">
                <a:solidFill>
                  <a:srgbClr val="426546"/>
                </a:solidFill>
                <a:latin typeface="Cabin Bold" panose="00000800000000000000"/>
                <a:ea typeface="Cabin Bold" panose="00000800000000000000"/>
                <a:cs typeface="Cabin Bold" panose="00000800000000000000"/>
                <a:sym typeface="Cabin Bold" panose="00000800000000000000"/>
              </a:rPr>
              <a:t>7.NGUYỄN VĂN DUY PHÚ</a:t>
            </a:r>
            <a:endParaRPr lang="en-US" sz="6180" b="1" spc="-123">
              <a:solidFill>
                <a:srgbClr val="426546"/>
              </a:solidFill>
              <a:latin typeface="Cabin Bold" panose="00000800000000000000"/>
              <a:ea typeface="Cabin Bold" panose="00000800000000000000"/>
              <a:cs typeface="Cabin Bold" panose="00000800000000000000"/>
              <a:sym typeface="Cabin Bold" panose="00000800000000000000"/>
            </a:endParaRPr>
          </a:p>
          <a:p>
            <a:pPr algn="l">
              <a:lnSpc>
                <a:spcPts val="8030"/>
              </a:lnSpc>
              <a:spcBef>
                <a:spcPct val="0"/>
              </a:spcBef>
            </a:pPr>
            <a:r>
              <a:rPr lang="en-US" sz="6180" b="1" spc="-123">
                <a:solidFill>
                  <a:srgbClr val="426546"/>
                </a:solidFill>
                <a:latin typeface="Cabin Bold" panose="00000800000000000000"/>
                <a:ea typeface="Cabin Bold" panose="00000800000000000000"/>
                <a:cs typeface="Cabin Bold" panose="00000800000000000000"/>
                <a:sym typeface="Cabin Bold" panose="00000800000000000000"/>
              </a:rPr>
              <a:t>8.NGUYỄN THỊ TƯỜNG VÂN</a:t>
            </a:r>
            <a:endParaRPr lang="en-US" sz="6180" b="1" spc="-123">
              <a:solidFill>
                <a:srgbClr val="426546"/>
              </a:solidFill>
              <a:latin typeface="Cabin Bold" panose="00000800000000000000"/>
              <a:ea typeface="Cabin Bold" panose="00000800000000000000"/>
              <a:cs typeface="Cabin Bold" panose="00000800000000000000"/>
              <a:sym typeface="Cabin Bold" panose="00000800000000000000"/>
            </a:endParaRPr>
          </a:p>
          <a:p>
            <a:pPr algn="l">
              <a:lnSpc>
                <a:spcPts val="8030"/>
              </a:lnSpc>
              <a:spcBef>
                <a:spcPct val="0"/>
              </a:spcBef>
            </a:pPr>
            <a:r>
              <a:rPr lang="en-US" sz="6180" b="1" spc="-123">
                <a:solidFill>
                  <a:srgbClr val="426546"/>
                </a:solidFill>
                <a:latin typeface="Cabin Bold" panose="00000800000000000000"/>
                <a:ea typeface="Cabin Bold" panose="00000800000000000000"/>
                <a:cs typeface="Cabin Bold" panose="00000800000000000000"/>
                <a:sym typeface="Cabin Bold" panose="00000800000000000000"/>
              </a:rPr>
              <a:t>9.ĐẶNG TUẤN KIỆT</a:t>
            </a:r>
            <a:endParaRPr lang="en-US" sz="6180" b="1" spc="-123">
              <a:solidFill>
                <a:srgbClr val="426546"/>
              </a:solidFill>
              <a:latin typeface="Cabin Bold" panose="00000800000000000000"/>
              <a:ea typeface="Cabin Bold" panose="00000800000000000000"/>
              <a:cs typeface="Cabin Bold" panose="00000800000000000000"/>
              <a:sym typeface="Cabin Bold" panose="00000800000000000000"/>
            </a:endParaRPr>
          </a:p>
          <a:p>
            <a:pPr algn="l">
              <a:lnSpc>
                <a:spcPts val="8030"/>
              </a:lnSpc>
              <a:spcBef>
                <a:spcPct val="0"/>
              </a:spcBef>
            </a:pPr>
            <a:r>
              <a:rPr lang="en-US" sz="6180" b="1" spc="-123">
                <a:solidFill>
                  <a:srgbClr val="426546"/>
                </a:solidFill>
                <a:latin typeface="Cabin Bold" panose="00000800000000000000"/>
                <a:ea typeface="Cabin Bold" panose="00000800000000000000"/>
                <a:cs typeface="Cabin Bold" panose="00000800000000000000"/>
                <a:sym typeface="Cabin Bold" panose="00000800000000000000"/>
              </a:rPr>
              <a:t>10.LÊ NGUYỄN PHƯƠNG KHÁNH</a:t>
            </a:r>
            <a:endParaRPr lang="en-US" sz="6180" b="1" spc="-123">
              <a:solidFill>
                <a:srgbClr val="426546"/>
              </a:solidFill>
              <a:latin typeface="Cabin Bold" panose="00000800000000000000"/>
              <a:ea typeface="Cabin Bold" panose="00000800000000000000"/>
              <a:cs typeface="Cabin Bold" panose="00000800000000000000"/>
              <a:sym typeface="Cabin Bold" panose="00000800000000000000"/>
            </a:endParaRPr>
          </a:p>
          <a:p>
            <a:pPr algn="l">
              <a:lnSpc>
                <a:spcPts val="8030"/>
              </a:lnSpc>
              <a:spcBef>
                <a:spcPct val="0"/>
              </a:spcBef>
            </a:pPr>
            <a:r>
              <a:rPr lang="en-US" sz="6180" b="1" spc="-123">
                <a:solidFill>
                  <a:srgbClr val="426546"/>
                </a:solidFill>
                <a:latin typeface="Cabin Bold" panose="00000800000000000000"/>
                <a:ea typeface="Cabin Bold" panose="00000800000000000000"/>
                <a:cs typeface="Cabin Bold" panose="00000800000000000000"/>
                <a:sym typeface="Cabin Bold" panose="00000800000000000000"/>
              </a:rPr>
              <a:t>11.NGUYỄN NGỌC BẢO TRÂM</a:t>
            </a:r>
            <a:endParaRPr lang="en-US" sz="6180" b="1" spc="-123">
              <a:solidFill>
                <a:srgbClr val="426546"/>
              </a:solidFill>
              <a:latin typeface="Cabin Bold" panose="00000800000000000000"/>
              <a:ea typeface="Cabin Bold" panose="00000800000000000000"/>
              <a:cs typeface="Cabin Bold" panose="00000800000000000000"/>
              <a:sym typeface="Cabin Bold" panose="00000800000000000000"/>
            </a:endParaRPr>
          </a:p>
          <a:p>
            <a:pPr algn="l">
              <a:lnSpc>
                <a:spcPts val="8690"/>
              </a:lnSpc>
              <a:spcBef>
                <a:spcPct val="0"/>
              </a:spcBef>
            </a:pPr>
            <a:r>
              <a:rPr lang="en-US" sz="6685" b="1" spc="-133">
                <a:solidFill>
                  <a:srgbClr val="426546"/>
                </a:solidFill>
                <a:latin typeface="Cabin Bold" panose="00000800000000000000"/>
                <a:ea typeface="Cabin Bold" panose="00000800000000000000"/>
                <a:cs typeface="Cabin Bold" panose="00000800000000000000"/>
                <a:sym typeface="Cabin Bold" panose="00000800000000000000"/>
              </a:rPr>
              <a:t>12.NGUYỄN TRẦN ANH DUY</a:t>
            </a:r>
            <a:endParaRPr lang="en-US" sz="6685" b="1" spc="-133">
              <a:solidFill>
                <a:srgbClr val="426546"/>
              </a:solidFill>
              <a:latin typeface="Cabin Bold" panose="00000800000000000000"/>
              <a:ea typeface="Cabin Bold" panose="00000800000000000000"/>
              <a:cs typeface="Cabin Bold" panose="00000800000000000000"/>
              <a:sym typeface="Cabin Bold" panose="000008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2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20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5127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957959" y="-1338074"/>
            <a:ext cx="6602682" cy="5678307"/>
          </a:xfrm>
          <a:custGeom>
            <a:avLst/>
            <a:gdLst/>
            <a:ahLst/>
            <a:cxnLst/>
            <a:rect l="l" t="t" r="r" b="b"/>
            <a:pathLst>
              <a:path w="6602682" h="5678307">
                <a:moveTo>
                  <a:pt x="0" y="0"/>
                </a:moveTo>
                <a:lnTo>
                  <a:pt x="6602682" y="0"/>
                </a:lnTo>
                <a:lnTo>
                  <a:pt x="6602682" y="5678307"/>
                </a:lnTo>
                <a:lnTo>
                  <a:pt x="0" y="56783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871829" y="3154332"/>
            <a:ext cx="8016581" cy="6307867"/>
          </a:xfrm>
          <a:custGeom>
            <a:avLst/>
            <a:gdLst/>
            <a:ahLst/>
            <a:cxnLst/>
            <a:rect l="l" t="t" r="r" b="b"/>
            <a:pathLst>
              <a:path w="8016581" h="6307867">
                <a:moveTo>
                  <a:pt x="8016581" y="0"/>
                </a:moveTo>
                <a:lnTo>
                  <a:pt x="0" y="0"/>
                </a:lnTo>
                <a:lnTo>
                  <a:pt x="0" y="6307867"/>
                </a:lnTo>
                <a:lnTo>
                  <a:pt x="8016581" y="6307867"/>
                </a:lnTo>
                <a:lnTo>
                  <a:pt x="8016581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217463" y="8773649"/>
            <a:ext cx="18722927" cy="7559382"/>
          </a:xfrm>
          <a:custGeom>
            <a:avLst/>
            <a:gdLst/>
            <a:ahLst/>
            <a:cxnLst/>
            <a:rect l="l" t="t" r="r" b="b"/>
            <a:pathLst>
              <a:path w="18722927" h="7559382">
                <a:moveTo>
                  <a:pt x="0" y="0"/>
                </a:moveTo>
                <a:lnTo>
                  <a:pt x="18722926" y="0"/>
                </a:lnTo>
                <a:lnTo>
                  <a:pt x="18722926" y="7559381"/>
                </a:lnTo>
                <a:lnTo>
                  <a:pt x="0" y="7559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121763" y="2025824"/>
            <a:ext cx="4133959" cy="9237897"/>
          </a:xfrm>
          <a:custGeom>
            <a:avLst/>
            <a:gdLst/>
            <a:ahLst/>
            <a:cxnLst/>
            <a:rect l="l" t="t" r="r" b="b"/>
            <a:pathLst>
              <a:path w="4133959" h="9237897">
                <a:moveTo>
                  <a:pt x="0" y="0"/>
                </a:moveTo>
                <a:lnTo>
                  <a:pt x="4133959" y="0"/>
                </a:lnTo>
                <a:lnTo>
                  <a:pt x="4133959" y="9237897"/>
                </a:lnTo>
                <a:lnTo>
                  <a:pt x="0" y="92378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815927" y="425947"/>
            <a:ext cx="4903801" cy="4217269"/>
          </a:xfrm>
          <a:custGeom>
            <a:avLst/>
            <a:gdLst/>
            <a:ahLst/>
            <a:cxnLst/>
            <a:rect l="l" t="t" r="r" b="b"/>
            <a:pathLst>
              <a:path w="4903801" h="4217269">
                <a:moveTo>
                  <a:pt x="4903801" y="0"/>
                </a:moveTo>
                <a:lnTo>
                  <a:pt x="0" y="0"/>
                </a:lnTo>
                <a:lnTo>
                  <a:pt x="0" y="4217269"/>
                </a:lnTo>
                <a:lnTo>
                  <a:pt x="4903801" y="4217269"/>
                </a:lnTo>
                <a:lnTo>
                  <a:pt x="490380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35581" y="1276002"/>
            <a:ext cx="9417277" cy="184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spc="-144">
                <a:solidFill>
                  <a:srgbClr val="426546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T</a:t>
            </a:r>
            <a:r>
              <a:rPr lang="en-US" sz="7200" spc="-144">
                <a:solidFill>
                  <a:srgbClr val="426546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uy Loan Ancient Village</a:t>
            </a:r>
            <a:endParaRPr lang="en-US" sz="7200" spc="-144">
              <a:solidFill>
                <a:srgbClr val="426546"/>
              </a:solidFill>
              <a:latin typeface="Verdana" panose="020B0604030504040204" charset="0"/>
              <a:ea typeface="Genty Sans" panose="00000600000000000000"/>
              <a:cs typeface="Verdana" panose="020B0604030504040204" charset="0"/>
              <a:sym typeface="Genty Sans" panose="0000060000000000000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2348520" y="7658799"/>
            <a:ext cx="6175747" cy="2628201"/>
          </a:xfrm>
          <a:custGeom>
            <a:avLst/>
            <a:gdLst/>
            <a:ahLst/>
            <a:cxnLst/>
            <a:rect l="l" t="t" r="r" b="b"/>
            <a:pathLst>
              <a:path w="6175747" h="2628201">
                <a:moveTo>
                  <a:pt x="0" y="0"/>
                </a:moveTo>
                <a:lnTo>
                  <a:pt x="6175747" y="0"/>
                </a:lnTo>
                <a:lnTo>
                  <a:pt x="6175747" y="2628201"/>
                </a:lnTo>
                <a:lnTo>
                  <a:pt x="0" y="26282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0" y="7658799"/>
            <a:ext cx="6175747" cy="2628201"/>
          </a:xfrm>
          <a:custGeom>
            <a:avLst/>
            <a:gdLst/>
            <a:ahLst/>
            <a:cxnLst/>
            <a:rect l="l" t="t" r="r" b="b"/>
            <a:pathLst>
              <a:path w="6175747" h="2628201">
                <a:moveTo>
                  <a:pt x="6175747" y="0"/>
                </a:moveTo>
                <a:lnTo>
                  <a:pt x="0" y="0"/>
                </a:lnTo>
                <a:lnTo>
                  <a:pt x="0" y="2628201"/>
                </a:lnTo>
                <a:lnTo>
                  <a:pt x="6175747" y="2628201"/>
                </a:lnTo>
                <a:lnTo>
                  <a:pt x="6175747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 rot="0">
            <a:off x="1241173" y="4340233"/>
            <a:ext cx="4918148" cy="1101266"/>
            <a:chOff x="0" y="0"/>
            <a:chExt cx="1295315" cy="2900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95315" cy="290045"/>
            </a:xfrm>
            <a:custGeom>
              <a:avLst/>
              <a:gdLst/>
              <a:ahLst/>
              <a:cxnLst/>
              <a:rect l="l" t="t" r="r" b="b"/>
              <a:pathLst>
                <a:path w="1295315" h="290045">
                  <a:moveTo>
                    <a:pt x="145023" y="0"/>
                  </a:moveTo>
                  <a:lnTo>
                    <a:pt x="1150292" y="0"/>
                  </a:lnTo>
                  <a:cubicBezTo>
                    <a:pt x="1230386" y="0"/>
                    <a:pt x="1295315" y="64929"/>
                    <a:pt x="1295315" y="145023"/>
                  </a:cubicBezTo>
                  <a:lnTo>
                    <a:pt x="1295315" y="145023"/>
                  </a:lnTo>
                  <a:cubicBezTo>
                    <a:pt x="1295315" y="183485"/>
                    <a:pt x="1280036" y="220372"/>
                    <a:pt x="1252839" y="247569"/>
                  </a:cubicBezTo>
                  <a:cubicBezTo>
                    <a:pt x="1225642" y="274766"/>
                    <a:pt x="1188755" y="290045"/>
                    <a:pt x="1150292" y="290045"/>
                  </a:cubicBezTo>
                  <a:lnTo>
                    <a:pt x="145023" y="290045"/>
                  </a:lnTo>
                  <a:cubicBezTo>
                    <a:pt x="64929" y="290045"/>
                    <a:pt x="0" y="225116"/>
                    <a:pt x="0" y="145023"/>
                  </a:cubicBezTo>
                  <a:lnTo>
                    <a:pt x="0" y="145023"/>
                  </a:lnTo>
                  <a:cubicBezTo>
                    <a:pt x="0" y="64929"/>
                    <a:pt x="64929" y="0"/>
                    <a:pt x="145023" y="0"/>
                  </a:cubicBezTo>
                  <a:close/>
                </a:path>
              </a:pathLst>
            </a:custGeom>
            <a:solidFill>
              <a:srgbClr val="42654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42875"/>
              <a:ext cx="1295315" cy="432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>
                <a:latin typeface="Verdana" panose="020B0604030504040204" charset="0"/>
                <a:cs typeface="Verdana" panose="020B0604030504040204" charset="0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26846" y="4581304"/>
            <a:ext cx="454680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spc="-79">
                <a:solidFill>
                  <a:srgbClr val="FFFFFF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 Th</a:t>
            </a:r>
            <a:r>
              <a:rPr lang="en-US" sz="4000" spc="-79">
                <a:solidFill>
                  <a:srgbClr val="FFFFFF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e Scenery</a:t>
            </a:r>
            <a:endParaRPr lang="en-US" sz="4000" spc="-79">
              <a:solidFill>
                <a:srgbClr val="FFFFFF"/>
              </a:solidFill>
              <a:latin typeface="Verdana" panose="020B0604030504040204" charset="0"/>
              <a:ea typeface="Genty Sans" panose="00000600000000000000"/>
              <a:cs typeface="Verdana" panose="020B0604030504040204" charset="0"/>
              <a:sym typeface="Genty Sans" panose="00000600000000000000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28700" y="5486749"/>
            <a:ext cx="5654179" cy="3486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60"/>
              </a:lnSpc>
            </a:pPr>
            <a:r>
              <a:rPr lang="en-US" sz="4300" b="1" spc="-85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It ha</a:t>
            </a:r>
            <a:r>
              <a:rPr lang="en-US" sz="4300" b="1" spc="-85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s a peaceful view near the river, with an old banyan tree and an ancient communal house.</a:t>
            </a:r>
            <a:endParaRPr lang="en-US" sz="4300" b="1" spc="-85">
              <a:solidFill>
                <a:srgbClr val="545454"/>
              </a:solidFill>
              <a:latin typeface="Verdana" panose="020B0604030504040204" charset="0"/>
              <a:ea typeface="Prachason Neue Mon Bold"/>
              <a:cs typeface="Verdana" panose="020B0604030504040204" charset="0"/>
              <a:sym typeface="Prachason Neue Mon Bold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7566490" y="4340233"/>
            <a:ext cx="4918148" cy="1101266"/>
            <a:chOff x="0" y="0"/>
            <a:chExt cx="1295315" cy="29004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95315" cy="290045"/>
            </a:xfrm>
            <a:custGeom>
              <a:avLst/>
              <a:gdLst/>
              <a:ahLst/>
              <a:cxnLst/>
              <a:rect l="l" t="t" r="r" b="b"/>
              <a:pathLst>
                <a:path w="1295315" h="290045">
                  <a:moveTo>
                    <a:pt x="145023" y="0"/>
                  </a:moveTo>
                  <a:lnTo>
                    <a:pt x="1150292" y="0"/>
                  </a:lnTo>
                  <a:cubicBezTo>
                    <a:pt x="1230386" y="0"/>
                    <a:pt x="1295315" y="64929"/>
                    <a:pt x="1295315" y="145023"/>
                  </a:cubicBezTo>
                  <a:lnTo>
                    <a:pt x="1295315" y="145023"/>
                  </a:lnTo>
                  <a:cubicBezTo>
                    <a:pt x="1295315" y="183485"/>
                    <a:pt x="1280036" y="220372"/>
                    <a:pt x="1252839" y="247569"/>
                  </a:cubicBezTo>
                  <a:cubicBezTo>
                    <a:pt x="1225642" y="274766"/>
                    <a:pt x="1188755" y="290045"/>
                    <a:pt x="1150292" y="290045"/>
                  </a:cubicBezTo>
                  <a:lnTo>
                    <a:pt x="145023" y="290045"/>
                  </a:lnTo>
                  <a:cubicBezTo>
                    <a:pt x="64929" y="290045"/>
                    <a:pt x="0" y="225116"/>
                    <a:pt x="0" y="145023"/>
                  </a:cubicBezTo>
                  <a:lnTo>
                    <a:pt x="0" y="145023"/>
                  </a:lnTo>
                  <a:cubicBezTo>
                    <a:pt x="0" y="64929"/>
                    <a:pt x="64929" y="0"/>
                    <a:pt x="145023" y="0"/>
                  </a:cubicBezTo>
                  <a:close/>
                </a:path>
              </a:pathLst>
            </a:custGeom>
            <a:solidFill>
              <a:srgbClr val="426546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42875"/>
              <a:ext cx="1295315" cy="432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>
                <a:latin typeface="Verdana" panose="020B0604030504040204" charset="0"/>
                <a:cs typeface="Verdana" panose="020B0604030504040204" charset="0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801718" y="4304240"/>
            <a:ext cx="4546802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spc="-79">
                <a:solidFill>
                  <a:srgbClr val="FFFFFF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Pe</a:t>
            </a:r>
            <a:r>
              <a:rPr lang="en-US" sz="4000" spc="-79">
                <a:solidFill>
                  <a:srgbClr val="FFFFFF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ople and Activities:</a:t>
            </a:r>
            <a:endParaRPr lang="en-US" sz="4000" spc="-79">
              <a:solidFill>
                <a:srgbClr val="FFFFFF"/>
              </a:solidFill>
              <a:latin typeface="Verdana" panose="020B0604030504040204" charset="0"/>
              <a:ea typeface="Genty Sans" panose="00000600000000000000"/>
              <a:cs typeface="Verdana" panose="020B0604030504040204" charset="0"/>
              <a:sym typeface="Genty Sans" panose="000006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857826" y="5543734"/>
            <a:ext cx="6557892" cy="372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5"/>
              </a:lnSpc>
            </a:pPr>
            <a:r>
              <a:rPr lang="en-US" sz="3330" b="1" spc="-66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 The local people here are </a:t>
            </a:r>
            <a:r>
              <a:rPr lang="en-US" sz="3330" b="1" spc="-66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exceptionally friendly. They are famous for making delicious traditional food and high-quality rice paper. Every year, the village hosts a big festival that attracts many visitors.</a:t>
            </a:r>
            <a:endParaRPr lang="en-US" sz="3330" b="1" spc="-66">
              <a:solidFill>
                <a:srgbClr val="545454"/>
              </a:solidFill>
              <a:latin typeface="Verdana" panose="020B0604030504040204" charset="0"/>
              <a:ea typeface="Prachason Neue Mon Bold"/>
              <a:cs typeface="Verdana" panose="020B0604030504040204" charset="0"/>
              <a:sym typeface="Prachason Neue Mon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6200" y="3133090"/>
            <a:ext cx="1360805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spc="-63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Tuy Loan Ancient Village is lo</a:t>
            </a:r>
            <a:r>
              <a:rPr lang="en-US" sz="3200" b="1" spc="-63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cated in Hoa Vang, Da Nang. This historic village is more than 500 years old.</a:t>
            </a:r>
            <a:endParaRPr lang="en-US" sz="3200" b="1" spc="-63">
              <a:solidFill>
                <a:srgbClr val="545454"/>
              </a:solidFill>
              <a:latin typeface="Verdana" panose="020B0604030504040204" charset="0"/>
              <a:ea typeface="Prachason Neue Mon Bold"/>
              <a:cs typeface="Verdana" panose="020B0604030504040204" charset="0"/>
              <a:sym typeface="Prachason Neue Mon Bold"/>
            </a:endParaRPr>
          </a:p>
        </p:txBody>
      </p:sp>
      <p:sp>
        <p:nvSpPr>
          <p:cNvPr id="22" name="Freeform 22"/>
          <p:cNvSpPr/>
          <p:nvPr/>
        </p:nvSpPr>
        <p:spPr>
          <a:xfrm rot="9840691">
            <a:off x="12334486" y="963161"/>
            <a:ext cx="1036335" cy="1035040"/>
          </a:xfrm>
          <a:custGeom>
            <a:avLst/>
            <a:gdLst/>
            <a:ahLst/>
            <a:cxnLst/>
            <a:rect l="l" t="t" r="r" b="b"/>
            <a:pathLst>
              <a:path w="1036335" h="1035040">
                <a:moveTo>
                  <a:pt x="0" y="0"/>
                </a:moveTo>
                <a:lnTo>
                  <a:pt x="1036336" y="0"/>
                </a:lnTo>
                <a:lnTo>
                  <a:pt x="1036336" y="1035040"/>
                </a:lnTo>
                <a:lnTo>
                  <a:pt x="0" y="10350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6950097">
            <a:off x="943044" y="-916282"/>
            <a:ext cx="1834858" cy="1832565"/>
          </a:xfrm>
          <a:custGeom>
            <a:avLst/>
            <a:gdLst/>
            <a:ahLst/>
            <a:cxnLst/>
            <a:rect l="l" t="t" r="r" b="b"/>
            <a:pathLst>
              <a:path w="1834858" h="1832565">
                <a:moveTo>
                  <a:pt x="0" y="0"/>
                </a:moveTo>
                <a:lnTo>
                  <a:pt x="1834858" y="0"/>
                </a:lnTo>
                <a:lnTo>
                  <a:pt x="1834858" y="1832564"/>
                </a:lnTo>
                <a:lnTo>
                  <a:pt x="0" y="18325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6223443" y="0"/>
            <a:ext cx="2064557" cy="3187919"/>
          </a:xfrm>
          <a:custGeom>
            <a:avLst/>
            <a:gdLst/>
            <a:ahLst/>
            <a:cxnLst/>
            <a:rect l="l" t="t" r="r" b="b"/>
            <a:pathLst>
              <a:path w="2064557" h="3187919">
                <a:moveTo>
                  <a:pt x="0" y="0"/>
                </a:moveTo>
                <a:lnTo>
                  <a:pt x="2064557" y="0"/>
                </a:lnTo>
                <a:lnTo>
                  <a:pt x="2064557" y="3187919"/>
                </a:lnTo>
                <a:lnTo>
                  <a:pt x="0" y="3187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5127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753643" y="6275516"/>
            <a:ext cx="6092990" cy="4011484"/>
          </a:xfrm>
          <a:custGeom>
            <a:avLst/>
            <a:gdLst/>
            <a:ahLst/>
            <a:cxnLst/>
            <a:rect l="l" t="t" r="r" b="b"/>
            <a:pathLst>
              <a:path w="6092990" h="4011484">
                <a:moveTo>
                  <a:pt x="0" y="0"/>
                </a:moveTo>
                <a:lnTo>
                  <a:pt x="6092990" y="0"/>
                </a:lnTo>
                <a:lnTo>
                  <a:pt x="6092990" y="4011484"/>
                </a:lnTo>
                <a:lnTo>
                  <a:pt x="0" y="4011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2948653" y="6275516"/>
            <a:ext cx="6092990" cy="4011484"/>
          </a:xfrm>
          <a:custGeom>
            <a:avLst/>
            <a:gdLst/>
            <a:ahLst/>
            <a:cxnLst/>
            <a:rect l="l" t="t" r="r" b="b"/>
            <a:pathLst>
              <a:path w="6092990" h="4011484">
                <a:moveTo>
                  <a:pt x="6092990" y="0"/>
                </a:moveTo>
                <a:lnTo>
                  <a:pt x="0" y="0"/>
                </a:lnTo>
                <a:lnTo>
                  <a:pt x="0" y="4011484"/>
                </a:lnTo>
                <a:lnTo>
                  <a:pt x="6092990" y="4011484"/>
                </a:lnTo>
                <a:lnTo>
                  <a:pt x="609299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0" y="8070781"/>
            <a:ext cx="18288000" cy="3683840"/>
          </a:xfrm>
          <a:custGeom>
            <a:avLst/>
            <a:gdLst/>
            <a:ahLst/>
            <a:cxnLst/>
            <a:rect l="l" t="t" r="r" b="b"/>
            <a:pathLst>
              <a:path w="18288000" h="3683840">
                <a:moveTo>
                  <a:pt x="0" y="0"/>
                </a:moveTo>
                <a:lnTo>
                  <a:pt x="18288000" y="0"/>
                </a:lnTo>
                <a:lnTo>
                  <a:pt x="18288000" y="3683840"/>
                </a:lnTo>
                <a:lnTo>
                  <a:pt x="0" y="3683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8698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348520" y="7658799"/>
            <a:ext cx="6175747" cy="2628201"/>
          </a:xfrm>
          <a:custGeom>
            <a:avLst/>
            <a:gdLst/>
            <a:ahLst/>
            <a:cxnLst/>
            <a:rect l="l" t="t" r="r" b="b"/>
            <a:pathLst>
              <a:path w="6175747" h="2628201">
                <a:moveTo>
                  <a:pt x="0" y="0"/>
                </a:moveTo>
                <a:lnTo>
                  <a:pt x="6175747" y="0"/>
                </a:lnTo>
                <a:lnTo>
                  <a:pt x="6175747" y="2628201"/>
                </a:lnTo>
                <a:lnTo>
                  <a:pt x="0" y="26282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0" y="7658799"/>
            <a:ext cx="6175747" cy="2628201"/>
          </a:xfrm>
          <a:custGeom>
            <a:avLst/>
            <a:gdLst/>
            <a:ahLst/>
            <a:cxnLst/>
            <a:rect l="l" t="t" r="r" b="b"/>
            <a:pathLst>
              <a:path w="6175747" h="2628201">
                <a:moveTo>
                  <a:pt x="6175747" y="0"/>
                </a:moveTo>
                <a:lnTo>
                  <a:pt x="0" y="0"/>
                </a:lnTo>
                <a:lnTo>
                  <a:pt x="0" y="2628201"/>
                </a:lnTo>
                <a:lnTo>
                  <a:pt x="6175747" y="2628201"/>
                </a:lnTo>
                <a:lnTo>
                  <a:pt x="6175747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-753643" y="493207"/>
            <a:ext cx="4518946" cy="3886293"/>
          </a:xfrm>
          <a:custGeom>
            <a:avLst/>
            <a:gdLst/>
            <a:ahLst/>
            <a:cxnLst/>
            <a:rect l="l" t="t" r="r" b="b"/>
            <a:pathLst>
              <a:path w="4518946" h="3886293">
                <a:moveTo>
                  <a:pt x="4518946" y="0"/>
                </a:moveTo>
                <a:lnTo>
                  <a:pt x="0" y="0"/>
                </a:lnTo>
                <a:lnTo>
                  <a:pt x="0" y="3886293"/>
                </a:lnTo>
                <a:lnTo>
                  <a:pt x="4518946" y="3886293"/>
                </a:lnTo>
                <a:lnTo>
                  <a:pt x="4518946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0">
            <a:off x="1616729" y="3676530"/>
            <a:ext cx="4791062" cy="5581770"/>
            <a:chOff x="0" y="0"/>
            <a:chExt cx="1261844" cy="14700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61844" cy="1470096"/>
            </a:xfrm>
            <a:custGeom>
              <a:avLst/>
              <a:gdLst/>
              <a:ahLst/>
              <a:cxnLst/>
              <a:rect l="l" t="t" r="r" b="b"/>
              <a:pathLst>
                <a:path w="1261844" h="1470096">
                  <a:moveTo>
                    <a:pt x="54941" y="0"/>
                  </a:moveTo>
                  <a:lnTo>
                    <a:pt x="1206903" y="0"/>
                  </a:lnTo>
                  <a:cubicBezTo>
                    <a:pt x="1237246" y="0"/>
                    <a:pt x="1261844" y="24598"/>
                    <a:pt x="1261844" y="54941"/>
                  </a:cubicBezTo>
                  <a:lnTo>
                    <a:pt x="1261844" y="1415155"/>
                  </a:lnTo>
                  <a:cubicBezTo>
                    <a:pt x="1261844" y="1445498"/>
                    <a:pt x="1237246" y="1470096"/>
                    <a:pt x="1206903" y="1470096"/>
                  </a:cubicBezTo>
                  <a:lnTo>
                    <a:pt x="54941" y="1470096"/>
                  </a:lnTo>
                  <a:cubicBezTo>
                    <a:pt x="24598" y="1470096"/>
                    <a:pt x="0" y="1445498"/>
                    <a:pt x="0" y="1415155"/>
                  </a:cubicBezTo>
                  <a:lnTo>
                    <a:pt x="0" y="54941"/>
                  </a:lnTo>
                  <a:cubicBezTo>
                    <a:pt x="0" y="24598"/>
                    <a:pt x="24598" y="0"/>
                    <a:pt x="549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42875"/>
              <a:ext cx="1261844" cy="1612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>
                <a:latin typeface="Verdana" panose="020B0604030504040204" charset="0"/>
                <a:cs typeface="Verdana" panose="020B0604030504040204" charset="0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4694566" y="378369"/>
            <a:ext cx="5540850" cy="4765131"/>
          </a:xfrm>
          <a:custGeom>
            <a:avLst/>
            <a:gdLst/>
            <a:ahLst/>
            <a:cxnLst/>
            <a:rect l="l" t="t" r="r" b="b"/>
            <a:pathLst>
              <a:path w="5540850" h="4765131">
                <a:moveTo>
                  <a:pt x="0" y="0"/>
                </a:moveTo>
                <a:lnTo>
                  <a:pt x="5540850" y="0"/>
                </a:lnTo>
                <a:lnTo>
                  <a:pt x="5540850" y="4765131"/>
                </a:lnTo>
                <a:lnTo>
                  <a:pt x="0" y="47651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 rot="0">
            <a:off x="6746246" y="3676530"/>
            <a:ext cx="4791062" cy="5581770"/>
            <a:chOff x="0" y="0"/>
            <a:chExt cx="1261844" cy="14700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61844" cy="1470096"/>
            </a:xfrm>
            <a:custGeom>
              <a:avLst/>
              <a:gdLst/>
              <a:ahLst/>
              <a:cxnLst/>
              <a:rect l="l" t="t" r="r" b="b"/>
              <a:pathLst>
                <a:path w="1261844" h="1470096">
                  <a:moveTo>
                    <a:pt x="54941" y="0"/>
                  </a:moveTo>
                  <a:lnTo>
                    <a:pt x="1206903" y="0"/>
                  </a:lnTo>
                  <a:cubicBezTo>
                    <a:pt x="1237246" y="0"/>
                    <a:pt x="1261844" y="24598"/>
                    <a:pt x="1261844" y="54941"/>
                  </a:cubicBezTo>
                  <a:lnTo>
                    <a:pt x="1261844" y="1415155"/>
                  </a:lnTo>
                  <a:cubicBezTo>
                    <a:pt x="1261844" y="1445498"/>
                    <a:pt x="1237246" y="1470096"/>
                    <a:pt x="1206903" y="1470096"/>
                  </a:cubicBezTo>
                  <a:lnTo>
                    <a:pt x="54941" y="1470096"/>
                  </a:lnTo>
                  <a:cubicBezTo>
                    <a:pt x="24598" y="1470096"/>
                    <a:pt x="0" y="1445498"/>
                    <a:pt x="0" y="1415155"/>
                  </a:cubicBezTo>
                  <a:lnTo>
                    <a:pt x="0" y="54941"/>
                  </a:lnTo>
                  <a:cubicBezTo>
                    <a:pt x="0" y="24598"/>
                    <a:pt x="24598" y="0"/>
                    <a:pt x="549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42875"/>
              <a:ext cx="1261844" cy="1612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>
                <a:latin typeface="Verdana" panose="020B0604030504040204" charset="0"/>
                <a:cs typeface="Verdana" panose="020B0604030504040204" charset="0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1880208" y="3676530"/>
            <a:ext cx="4791062" cy="5581770"/>
            <a:chOff x="0" y="0"/>
            <a:chExt cx="1261844" cy="147009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61844" cy="1470096"/>
            </a:xfrm>
            <a:custGeom>
              <a:avLst/>
              <a:gdLst/>
              <a:ahLst/>
              <a:cxnLst/>
              <a:rect l="l" t="t" r="r" b="b"/>
              <a:pathLst>
                <a:path w="1261844" h="1470096">
                  <a:moveTo>
                    <a:pt x="54941" y="0"/>
                  </a:moveTo>
                  <a:lnTo>
                    <a:pt x="1206903" y="0"/>
                  </a:lnTo>
                  <a:cubicBezTo>
                    <a:pt x="1237246" y="0"/>
                    <a:pt x="1261844" y="24598"/>
                    <a:pt x="1261844" y="54941"/>
                  </a:cubicBezTo>
                  <a:lnTo>
                    <a:pt x="1261844" y="1415155"/>
                  </a:lnTo>
                  <a:cubicBezTo>
                    <a:pt x="1261844" y="1445498"/>
                    <a:pt x="1237246" y="1470096"/>
                    <a:pt x="1206903" y="1470096"/>
                  </a:cubicBezTo>
                  <a:lnTo>
                    <a:pt x="54941" y="1470096"/>
                  </a:lnTo>
                  <a:cubicBezTo>
                    <a:pt x="24598" y="1470096"/>
                    <a:pt x="0" y="1445498"/>
                    <a:pt x="0" y="1415155"/>
                  </a:cubicBezTo>
                  <a:lnTo>
                    <a:pt x="0" y="54941"/>
                  </a:lnTo>
                  <a:cubicBezTo>
                    <a:pt x="0" y="24598"/>
                    <a:pt x="24598" y="0"/>
                    <a:pt x="5494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42875"/>
              <a:ext cx="1261844" cy="16129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>
                <a:latin typeface="Verdana" panose="020B0604030504040204" charset="0"/>
                <a:cs typeface="Verdana" panose="020B0604030504040204" charset="0"/>
              </a:endParaRPr>
            </a:p>
          </p:txBody>
        </p:sp>
      </p:grpSp>
      <p:sp>
        <p:nvSpPr>
          <p:cNvPr id="19" name="AutoShape 19"/>
          <p:cNvSpPr/>
          <p:nvPr/>
        </p:nvSpPr>
        <p:spPr>
          <a:xfrm>
            <a:off x="2487957" y="5829205"/>
            <a:ext cx="3447387" cy="0"/>
          </a:xfrm>
          <a:prstGeom prst="line">
            <a:avLst/>
          </a:prstGeom>
          <a:ln w="19050" cap="flat">
            <a:solidFill>
              <a:srgbClr val="42654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7419988" y="5841270"/>
            <a:ext cx="3447387" cy="0"/>
          </a:xfrm>
          <a:prstGeom prst="line">
            <a:avLst/>
          </a:prstGeom>
          <a:ln w="19050" cap="flat">
            <a:solidFill>
              <a:srgbClr val="42654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12547601" y="5829205"/>
            <a:ext cx="3447387" cy="0"/>
          </a:xfrm>
          <a:prstGeom prst="line">
            <a:avLst/>
          </a:prstGeom>
          <a:ln w="19050" cap="flat">
            <a:solidFill>
              <a:srgbClr val="42654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Freeform 22"/>
          <p:cNvSpPr/>
          <p:nvPr/>
        </p:nvSpPr>
        <p:spPr>
          <a:xfrm>
            <a:off x="879151" y="1028700"/>
            <a:ext cx="1007099" cy="1005840"/>
          </a:xfrm>
          <a:custGeom>
            <a:avLst/>
            <a:gdLst/>
            <a:ahLst/>
            <a:cxnLst/>
            <a:rect l="l" t="t" r="r" b="b"/>
            <a:pathLst>
              <a:path w="1007099" h="1005840">
                <a:moveTo>
                  <a:pt x="0" y="0"/>
                </a:moveTo>
                <a:lnTo>
                  <a:pt x="1007099" y="0"/>
                </a:lnTo>
                <a:lnTo>
                  <a:pt x="1007099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219267" y="1162050"/>
            <a:ext cx="11849465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spc="-144">
                <a:solidFill>
                  <a:srgbClr val="426546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Non</a:t>
            </a:r>
            <a:r>
              <a:rPr lang="en-US" sz="7200" spc="-144">
                <a:solidFill>
                  <a:srgbClr val="426546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 Nuoc Stone Village</a:t>
            </a:r>
            <a:endParaRPr lang="en-US" sz="7200" spc="-144">
              <a:solidFill>
                <a:srgbClr val="426546"/>
              </a:solidFill>
              <a:latin typeface="Verdana" panose="020B0604030504040204" charset="0"/>
              <a:ea typeface="Genty Sans" panose="00000600000000000000"/>
              <a:cs typeface="Verdana" panose="020B0604030504040204" charset="0"/>
              <a:sym typeface="Genty Sans" panose="00000600000000000000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483907" y="4238578"/>
            <a:ext cx="3056708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63">
                <a:solidFill>
                  <a:srgbClr val="426546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Name and Lo</a:t>
            </a:r>
            <a:r>
              <a:rPr lang="en-US" sz="3200" spc="-63">
                <a:solidFill>
                  <a:srgbClr val="426546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cation:</a:t>
            </a:r>
            <a:endParaRPr lang="en-US" sz="3200" spc="-63">
              <a:solidFill>
                <a:srgbClr val="426546"/>
              </a:solidFill>
              <a:latin typeface="Verdana" panose="020B0604030504040204" charset="0"/>
              <a:ea typeface="Genty Sans" panose="00000600000000000000"/>
              <a:cs typeface="Verdana" panose="020B0604030504040204" charset="0"/>
              <a:sym typeface="Genty Sans" panose="000006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546266" y="4481465"/>
            <a:ext cx="319102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63">
                <a:solidFill>
                  <a:srgbClr val="426546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Scenery:</a:t>
            </a:r>
            <a:endParaRPr lang="en-US" sz="3200" spc="-63">
              <a:solidFill>
                <a:srgbClr val="426546"/>
              </a:solidFill>
              <a:latin typeface="Verdana" panose="020B0604030504040204" charset="0"/>
              <a:ea typeface="Genty Sans" panose="00000600000000000000"/>
              <a:cs typeface="Verdana" panose="020B0604030504040204" charset="0"/>
              <a:sym typeface="Genty Sans" panose="00000600000000000000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769629" y="4162425"/>
            <a:ext cx="3191021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63">
                <a:solidFill>
                  <a:srgbClr val="426546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Pe</a:t>
            </a:r>
            <a:r>
              <a:rPr lang="en-US" sz="3200" spc="-63">
                <a:solidFill>
                  <a:srgbClr val="426546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ople and Activities:</a:t>
            </a:r>
            <a:endParaRPr lang="en-US" sz="3200" spc="-63">
              <a:solidFill>
                <a:srgbClr val="426546"/>
              </a:solidFill>
              <a:latin typeface="Verdana" panose="020B0604030504040204" charset="0"/>
              <a:ea typeface="Genty Sans" panose="00000600000000000000"/>
              <a:cs typeface="Verdana" panose="020B0604030504040204" charset="0"/>
              <a:sym typeface="Genty Sans" panose="00000600000000000000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995640" y="6220524"/>
            <a:ext cx="4033240" cy="260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spc="-63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Non Nuoc Sto</a:t>
            </a:r>
            <a:r>
              <a:rPr lang="en-US" sz="3200" b="1" spc="-63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ne Village is at the foot of the Marble Mountains in Da Nang.</a:t>
            </a:r>
            <a:endParaRPr lang="en-US" sz="3200" b="1" spc="-63">
              <a:solidFill>
                <a:srgbClr val="545454"/>
              </a:solidFill>
              <a:latin typeface="Verdana" panose="020B0604030504040204" charset="0"/>
              <a:ea typeface="Prachason Neue Mon Bold"/>
              <a:cs typeface="Verdana" panose="020B0604030504040204" charset="0"/>
              <a:sym typeface="Prachason Neue Mon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7125157" y="6706299"/>
            <a:ext cx="4033240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spc="-63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It i</a:t>
            </a:r>
            <a:r>
              <a:rPr lang="en-US" sz="3200" b="1" spc="-63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s a lively village next to the beautiful mountains.</a:t>
            </a:r>
            <a:endParaRPr lang="en-US" sz="3200" b="1" spc="-63">
              <a:solidFill>
                <a:srgbClr val="545454"/>
              </a:solidFill>
              <a:latin typeface="Verdana" panose="020B0604030504040204" charset="0"/>
              <a:ea typeface="Prachason Neue Mon Bold"/>
              <a:cs typeface="Verdana" panose="020B0604030504040204" charset="0"/>
              <a:sym typeface="Prachason Neue Mon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810993" y="5841429"/>
            <a:ext cx="4791062" cy="260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spc="-63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Skilled artists use sto</a:t>
            </a:r>
            <a:r>
              <a:rPr lang="en-US" sz="3200" b="1" spc="-63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ne to carve amazing statues of animals and people. Tourists love to visit and buy nice souvenirs here.</a:t>
            </a:r>
            <a:endParaRPr lang="en-US" sz="3200" b="1" spc="-63">
              <a:solidFill>
                <a:srgbClr val="545454"/>
              </a:solidFill>
              <a:latin typeface="Verdana" panose="020B0604030504040204" charset="0"/>
              <a:ea typeface="Prachason Neue Mon Bold"/>
              <a:cs typeface="Verdana" panose="020B0604030504040204" charset="0"/>
              <a:sym typeface="Prachason Neue Mon Bold"/>
            </a:endParaRPr>
          </a:p>
        </p:txBody>
      </p:sp>
      <p:sp>
        <p:nvSpPr>
          <p:cNvPr id="30" name="Freeform 30"/>
          <p:cNvSpPr/>
          <p:nvPr/>
        </p:nvSpPr>
        <p:spPr>
          <a:xfrm rot="-6296267">
            <a:off x="15789876" y="747406"/>
            <a:ext cx="793060" cy="792068"/>
          </a:xfrm>
          <a:custGeom>
            <a:avLst/>
            <a:gdLst/>
            <a:ahLst/>
            <a:cxnLst/>
            <a:rect l="l" t="t" r="r" b="b"/>
            <a:pathLst>
              <a:path w="793060" h="792068">
                <a:moveTo>
                  <a:pt x="0" y="0"/>
                </a:moveTo>
                <a:lnTo>
                  <a:pt x="793060" y="0"/>
                </a:lnTo>
                <a:lnTo>
                  <a:pt x="793060" y="792068"/>
                </a:lnTo>
                <a:lnTo>
                  <a:pt x="0" y="7920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7259300" y="3040380"/>
            <a:ext cx="1345629" cy="1004870"/>
          </a:xfrm>
          <a:custGeom>
            <a:avLst/>
            <a:gdLst/>
            <a:ahLst/>
            <a:cxnLst/>
            <a:rect l="l" t="t" r="r" b="b"/>
            <a:pathLst>
              <a:path w="1345629" h="1004870">
                <a:moveTo>
                  <a:pt x="0" y="0"/>
                </a:moveTo>
                <a:lnTo>
                  <a:pt x="1345629" y="0"/>
                </a:lnTo>
                <a:lnTo>
                  <a:pt x="1345629" y="1004870"/>
                </a:lnTo>
                <a:lnTo>
                  <a:pt x="0" y="1004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5127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632173" y="6938614"/>
            <a:ext cx="11567350" cy="9101799"/>
          </a:xfrm>
          <a:custGeom>
            <a:avLst/>
            <a:gdLst/>
            <a:ahLst/>
            <a:cxnLst/>
            <a:rect l="l" t="t" r="r" b="b"/>
            <a:pathLst>
              <a:path w="11567350" h="9101799">
                <a:moveTo>
                  <a:pt x="0" y="0"/>
                </a:moveTo>
                <a:lnTo>
                  <a:pt x="11567349" y="0"/>
                </a:lnTo>
                <a:lnTo>
                  <a:pt x="11567349" y="9101799"/>
                </a:lnTo>
                <a:lnTo>
                  <a:pt x="0" y="9101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81328">
            <a:off x="7488102" y="8875237"/>
            <a:ext cx="13146511" cy="2810067"/>
          </a:xfrm>
          <a:custGeom>
            <a:avLst/>
            <a:gdLst/>
            <a:ahLst/>
            <a:cxnLst/>
            <a:rect l="l" t="t" r="r" b="b"/>
            <a:pathLst>
              <a:path w="13146511" h="2810067">
                <a:moveTo>
                  <a:pt x="0" y="0"/>
                </a:moveTo>
                <a:lnTo>
                  <a:pt x="13146511" y="0"/>
                </a:lnTo>
                <a:lnTo>
                  <a:pt x="13146511" y="2810067"/>
                </a:lnTo>
                <a:lnTo>
                  <a:pt x="0" y="28100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446950" y="4203925"/>
            <a:ext cx="6428739" cy="6241601"/>
          </a:xfrm>
          <a:custGeom>
            <a:avLst/>
            <a:gdLst/>
            <a:ahLst/>
            <a:cxnLst/>
            <a:rect l="l" t="t" r="r" b="b"/>
            <a:pathLst>
              <a:path w="6428739" h="6241601">
                <a:moveTo>
                  <a:pt x="0" y="0"/>
                </a:moveTo>
                <a:lnTo>
                  <a:pt x="6428738" y="0"/>
                </a:lnTo>
                <a:lnTo>
                  <a:pt x="6428738" y="6241600"/>
                </a:lnTo>
                <a:lnTo>
                  <a:pt x="0" y="6241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092730" y="6854366"/>
            <a:ext cx="7591485" cy="5973380"/>
          </a:xfrm>
          <a:custGeom>
            <a:avLst/>
            <a:gdLst/>
            <a:ahLst/>
            <a:cxnLst/>
            <a:rect l="l" t="t" r="r" b="b"/>
            <a:pathLst>
              <a:path w="7591485" h="5973380">
                <a:moveTo>
                  <a:pt x="0" y="0"/>
                </a:moveTo>
                <a:lnTo>
                  <a:pt x="7591485" y="0"/>
                </a:lnTo>
                <a:lnTo>
                  <a:pt x="7591485" y="5973379"/>
                </a:lnTo>
                <a:lnTo>
                  <a:pt x="0" y="59733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3262237" y="2034540"/>
            <a:ext cx="6524473" cy="5611047"/>
          </a:xfrm>
          <a:custGeom>
            <a:avLst/>
            <a:gdLst/>
            <a:ahLst/>
            <a:cxnLst/>
            <a:rect l="l" t="t" r="r" b="b"/>
            <a:pathLst>
              <a:path w="6524473" h="5611047">
                <a:moveTo>
                  <a:pt x="6524474" y="0"/>
                </a:moveTo>
                <a:lnTo>
                  <a:pt x="0" y="0"/>
                </a:lnTo>
                <a:lnTo>
                  <a:pt x="0" y="5611047"/>
                </a:lnTo>
                <a:lnTo>
                  <a:pt x="6524474" y="5611047"/>
                </a:lnTo>
                <a:lnTo>
                  <a:pt x="6524474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0">
            <a:off x="1028700" y="3517662"/>
            <a:ext cx="3799400" cy="1101266"/>
            <a:chOff x="0" y="0"/>
            <a:chExt cx="1000665" cy="2900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0665" cy="290045"/>
            </a:xfrm>
            <a:custGeom>
              <a:avLst/>
              <a:gdLst/>
              <a:ahLst/>
              <a:cxnLst/>
              <a:rect l="l" t="t" r="r" b="b"/>
              <a:pathLst>
                <a:path w="1000665" h="290045">
                  <a:moveTo>
                    <a:pt x="145023" y="0"/>
                  </a:moveTo>
                  <a:lnTo>
                    <a:pt x="855642" y="0"/>
                  </a:lnTo>
                  <a:cubicBezTo>
                    <a:pt x="894105" y="0"/>
                    <a:pt x="930992" y="15279"/>
                    <a:pt x="958189" y="42476"/>
                  </a:cubicBezTo>
                  <a:cubicBezTo>
                    <a:pt x="985386" y="69673"/>
                    <a:pt x="1000665" y="106560"/>
                    <a:pt x="1000665" y="145023"/>
                  </a:cubicBezTo>
                  <a:lnTo>
                    <a:pt x="1000665" y="145023"/>
                  </a:lnTo>
                  <a:cubicBezTo>
                    <a:pt x="1000665" y="225116"/>
                    <a:pt x="935736" y="290045"/>
                    <a:pt x="855642" y="290045"/>
                  </a:cubicBezTo>
                  <a:lnTo>
                    <a:pt x="145023" y="290045"/>
                  </a:lnTo>
                  <a:cubicBezTo>
                    <a:pt x="64929" y="290045"/>
                    <a:pt x="0" y="225116"/>
                    <a:pt x="0" y="145023"/>
                  </a:cubicBezTo>
                  <a:lnTo>
                    <a:pt x="0" y="145023"/>
                  </a:lnTo>
                  <a:cubicBezTo>
                    <a:pt x="0" y="64929"/>
                    <a:pt x="64929" y="0"/>
                    <a:pt x="145023" y="0"/>
                  </a:cubicBezTo>
                  <a:close/>
                </a:path>
              </a:pathLst>
            </a:custGeom>
            <a:solidFill>
              <a:srgbClr val="426546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42875"/>
              <a:ext cx="1000665" cy="432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>
                <a:latin typeface="Verdana" panose="020B0604030504040204" charset="0"/>
                <a:cs typeface="Verdana" panose="020B0604030504040204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0">
            <a:off x="1028700" y="5753100"/>
            <a:ext cx="3799400" cy="1101266"/>
            <a:chOff x="0" y="0"/>
            <a:chExt cx="1000665" cy="29004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00665" cy="290045"/>
            </a:xfrm>
            <a:custGeom>
              <a:avLst/>
              <a:gdLst/>
              <a:ahLst/>
              <a:cxnLst/>
              <a:rect l="l" t="t" r="r" b="b"/>
              <a:pathLst>
                <a:path w="1000665" h="290045">
                  <a:moveTo>
                    <a:pt x="145023" y="0"/>
                  </a:moveTo>
                  <a:lnTo>
                    <a:pt x="855642" y="0"/>
                  </a:lnTo>
                  <a:cubicBezTo>
                    <a:pt x="894105" y="0"/>
                    <a:pt x="930992" y="15279"/>
                    <a:pt x="958189" y="42476"/>
                  </a:cubicBezTo>
                  <a:cubicBezTo>
                    <a:pt x="985386" y="69673"/>
                    <a:pt x="1000665" y="106560"/>
                    <a:pt x="1000665" y="145023"/>
                  </a:cubicBezTo>
                  <a:lnTo>
                    <a:pt x="1000665" y="145023"/>
                  </a:lnTo>
                  <a:cubicBezTo>
                    <a:pt x="1000665" y="225116"/>
                    <a:pt x="935736" y="290045"/>
                    <a:pt x="855642" y="290045"/>
                  </a:cubicBezTo>
                  <a:lnTo>
                    <a:pt x="145023" y="290045"/>
                  </a:lnTo>
                  <a:cubicBezTo>
                    <a:pt x="64929" y="290045"/>
                    <a:pt x="0" y="225116"/>
                    <a:pt x="0" y="145023"/>
                  </a:cubicBezTo>
                  <a:lnTo>
                    <a:pt x="0" y="145023"/>
                  </a:lnTo>
                  <a:cubicBezTo>
                    <a:pt x="0" y="64929"/>
                    <a:pt x="64929" y="0"/>
                    <a:pt x="145023" y="0"/>
                  </a:cubicBezTo>
                  <a:close/>
                </a:path>
              </a:pathLst>
            </a:custGeom>
            <a:solidFill>
              <a:srgbClr val="42654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42875"/>
              <a:ext cx="1000665" cy="432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>
                <a:latin typeface="Verdana" panose="020B0604030504040204" charset="0"/>
                <a:cs typeface="Verdana" panose="020B0604030504040204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1028700" y="7934325"/>
            <a:ext cx="3799400" cy="1101266"/>
            <a:chOff x="0" y="0"/>
            <a:chExt cx="1000665" cy="2900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00665" cy="290045"/>
            </a:xfrm>
            <a:custGeom>
              <a:avLst/>
              <a:gdLst/>
              <a:ahLst/>
              <a:cxnLst/>
              <a:rect l="l" t="t" r="r" b="b"/>
              <a:pathLst>
                <a:path w="1000665" h="290045">
                  <a:moveTo>
                    <a:pt x="145023" y="0"/>
                  </a:moveTo>
                  <a:lnTo>
                    <a:pt x="855642" y="0"/>
                  </a:lnTo>
                  <a:cubicBezTo>
                    <a:pt x="894105" y="0"/>
                    <a:pt x="930992" y="15279"/>
                    <a:pt x="958189" y="42476"/>
                  </a:cubicBezTo>
                  <a:cubicBezTo>
                    <a:pt x="985386" y="69673"/>
                    <a:pt x="1000665" y="106560"/>
                    <a:pt x="1000665" y="145023"/>
                  </a:cubicBezTo>
                  <a:lnTo>
                    <a:pt x="1000665" y="145023"/>
                  </a:lnTo>
                  <a:cubicBezTo>
                    <a:pt x="1000665" y="225116"/>
                    <a:pt x="935736" y="290045"/>
                    <a:pt x="855642" y="290045"/>
                  </a:cubicBezTo>
                  <a:lnTo>
                    <a:pt x="145023" y="290045"/>
                  </a:lnTo>
                  <a:cubicBezTo>
                    <a:pt x="64929" y="290045"/>
                    <a:pt x="0" y="225116"/>
                    <a:pt x="0" y="145023"/>
                  </a:cubicBezTo>
                  <a:lnTo>
                    <a:pt x="0" y="145023"/>
                  </a:lnTo>
                  <a:cubicBezTo>
                    <a:pt x="0" y="64929"/>
                    <a:pt x="64929" y="0"/>
                    <a:pt x="145023" y="0"/>
                  </a:cubicBezTo>
                  <a:close/>
                </a:path>
              </a:pathLst>
            </a:custGeom>
            <a:solidFill>
              <a:srgbClr val="42654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142875"/>
              <a:ext cx="1000665" cy="4329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>
                <a:latin typeface="Verdana" panose="020B0604030504040204" charset="0"/>
                <a:cs typeface="Verdana" panose="020B0604030504040204" charset="0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14795793" y="6938614"/>
            <a:ext cx="4927013" cy="4639372"/>
          </a:xfrm>
          <a:custGeom>
            <a:avLst/>
            <a:gdLst/>
            <a:ahLst/>
            <a:cxnLst/>
            <a:rect l="l" t="t" r="r" b="b"/>
            <a:pathLst>
              <a:path w="4927013" h="4639372">
                <a:moveTo>
                  <a:pt x="0" y="0"/>
                </a:moveTo>
                <a:lnTo>
                  <a:pt x="4927014" y="0"/>
                </a:lnTo>
                <a:lnTo>
                  <a:pt x="4927014" y="4639372"/>
                </a:lnTo>
                <a:lnTo>
                  <a:pt x="0" y="46393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223443" y="-1153379"/>
            <a:ext cx="2064557" cy="3187919"/>
          </a:xfrm>
          <a:custGeom>
            <a:avLst/>
            <a:gdLst/>
            <a:ahLst/>
            <a:cxnLst/>
            <a:rect l="l" t="t" r="r" b="b"/>
            <a:pathLst>
              <a:path w="2064557" h="3187919">
                <a:moveTo>
                  <a:pt x="0" y="0"/>
                </a:moveTo>
                <a:lnTo>
                  <a:pt x="2064557" y="0"/>
                </a:lnTo>
                <a:lnTo>
                  <a:pt x="2064557" y="3187919"/>
                </a:lnTo>
                <a:lnTo>
                  <a:pt x="0" y="3187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28700" y="1162050"/>
            <a:ext cx="10344010" cy="963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spc="-144">
                <a:solidFill>
                  <a:srgbClr val="426546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Cam Ne Mat Village</a:t>
            </a:r>
            <a:endParaRPr lang="en-US" sz="7200" spc="-144">
              <a:solidFill>
                <a:srgbClr val="426546"/>
              </a:solidFill>
              <a:latin typeface="Verdana" panose="020B0604030504040204" charset="0"/>
              <a:ea typeface="Genty Sans" panose="00000600000000000000"/>
              <a:cs typeface="Verdana" panose="020B0604030504040204" charset="0"/>
              <a:sym typeface="Genty Sans" panose="00000600000000000000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00046" y="3572995"/>
            <a:ext cx="3056708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63">
                <a:solidFill>
                  <a:srgbClr val="FFFFFF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Nam</a:t>
            </a:r>
            <a:r>
              <a:rPr lang="en-US" sz="3200" spc="-63">
                <a:solidFill>
                  <a:srgbClr val="FFFFFF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e and Location:</a:t>
            </a:r>
            <a:endParaRPr lang="en-US" sz="3200" spc="-63">
              <a:solidFill>
                <a:srgbClr val="FFFFFF"/>
              </a:solidFill>
              <a:latin typeface="Verdana" panose="020B0604030504040204" charset="0"/>
              <a:ea typeface="Genty Sans" panose="00000600000000000000"/>
              <a:cs typeface="Verdana" panose="020B0604030504040204" charset="0"/>
              <a:sym typeface="Genty Sans" panose="00000600000000000000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00046" y="6043613"/>
            <a:ext cx="305670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63">
                <a:solidFill>
                  <a:srgbClr val="FFFFFF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Sc</a:t>
            </a:r>
            <a:r>
              <a:rPr lang="en-US" sz="3200" spc="-63">
                <a:solidFill>
                  <a:srgbClr val="FFFFFF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enery:</a:t>
            </a:r>
            <a:endParaRPr lang="en-US" sz="3200" spc="-63">
              <a:solidFill>
                <a:srgbClr val="FFFFFF"/>
              </a:solidFill>
              <a:latin typeface="Verdana" panose="020B0604030504040204" charset="0"/>
              <a:ea typeface="Genty Sans" panose="00000600000000000000"/>
              <a:cs typeface="Verdana" panose="020B0604030504040204" charset="0"/>
              <a:sym typeface="Genty Sans" panose="00000600000000000000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304613" y="3392020"/>
            <a:ext cx="7142337" cy="1226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</a:pPr>
            <a:r>
              <a:rPr lang="en-US" sz="3415" b="1" spc="-68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Cam N</a:t>
            </a:r>
            <a:r>
              <a:rPr lang="en-US" sz="3415" b="1" spc="-68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e Mat Village is in Hoa Vang, Da Nang. </a:t>
            </a:r>
            <a:endParaRPr lang="en-US" sz="3415" b="1" spc="-68">
              <a:solidFill>
                <a:srgbClr val="545454"/>
              </a:solidFill>
              <a:latin typeface="Verdana" panose="020B0604030504040204" charset="0"/>
              <a:ea typeface="Prachason Neue Mon Bold"/>
              <a:cs typeface="Verdana" panose="020B0604030504040204" charset="0"/>
              <a:sym typeface="Prachason Neue Mon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151501" y="5572125"/>
            <a:ext cx="6695373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 spc="-63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It is a q</a:t>
            </a:r>
            <a:r>
              <a:rPr lang="en-US" sz="3200" b="1" spc="-63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uiet and peaceful countryside. You can see colorful mats drying outside the houses.</a:t>
            </a:r>
            <a:endParaRPr lang="en-US" sz="3200" b="1" spc="-63">
              <a:solidFill>
                <a:srgbClr val="545454"/>
              </a:solidFill>
              <a:latin typeface="Verdana" panose="020B0604030504040204" charset="0"/>
              <a:ea typeface="Prachason Neue Mon Bold"/>
              <a:cs typeface="Verdana" panose="020B0604030504040204" charset="0"/>
              <a:sym typeface="Prachason Neue Mon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400046" y="7989658"/>
            <a:ext cx="3056708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spc="-63">
                <a:solidFill>
                  <a:srgbClr val="FFFFFF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People and Activities: </a:t>
            </a:r>
            <a:endParaRPr lang="en-US" sz="3200" spc="-63">
              <a:solidFill>
                <a:srgbClr val="FFFFFF"/>
              </a:solidFill>
              <a:latin typeface="Verdana" panose="020B0604030504040204" charset="0"/>
              <a:ea typeface="Genty Sans" panose="00000600000000000000"/>
              <a:cs typeface="Verdana" panose="020B0604030504040204" charset="0"/>
              <a:sym typeface="Genty Sans" panose="00000600000000000000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151501" y="7324725"/>
            <a:ext cx="6695373" cy="2609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 spc="-63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The villagers are v</a:t>
            </a:r>
            <a:r>
              <a:rPr lang="en-US" sz="3200" b="1" spc="-63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ery good at weaving mats. Cam Ne mats are thick, soft, and strong. People here are proud to keep this traditional job alive. </a:t>
            </a:r>
            <a:endParaRPr lang="en-US" sz="3200" b="1" spc="-63">
              <a:solidFill>
                <a:srgbClr val="545454"/>
              </a:solidFill>
              <a:latin typeface="Verdana" panose="020B0604030504040204" charset="0"/>
              <a:ea typeface="Prachason Neue Mon Bold"/>
              <a:cs typeface="Verdana" panose="020B0604030504040204" charset="0"/>
              <a:sym typeface="Prachason Neue Mon Bold"/>
            </a:endParaRPr>
          </a:p>
        </p:txBody>
      </p:sp>
      <p:sp>
        <p:nvSpPr>
          <p:cNvPr id="26" name="Freeform 26"/>
          <p:cNvSpPr/>
          <p:nvPr/>
        </p:nvSpPr>
        <p:spPr>
          <a:xfrm flipV="1">
            <a:off x="12763814" y="2034540"/>
            <a:ext cx="1025043" cy="1023761"/>
          </a:xfrm>
          <a:custGeom>
            <a:avLst/>
            <a:gdLst/>
            <a:ahLst/>
            <a:cxnLst/>
            <a:rect l="l" t="t" r="r" b="b"/>
            <a:pathLst>
              <a:path w="1025043" h="1023761">
                <a:moveTo>
                  <a:pt x="0" y="1023761"/>
                </a:moveTo>
                <a:lnTo>
                  <a:pt x="1025042" y="1023761"/>
                </a:lnTo>
                <a:lnTo>
                  <a:pt x="1025042" y="0"/>
                </a:lnTo>
                <a:lnTo>
                  <a:pt x="0" y="0"/>
                </a:lnTo>
                <a:lnTo>
                  <a:pt x="0" y="1023761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 rot="-10338496" flipV="1">
            <a:off x="-1057486" y="-947677"/>
            <a:ext cx="2960260" cy="2956560"/>
          </a:xfrm>
          <a:custGeom>
            <a:avLst/>
            <a:gdLst/>
            <a:ahLst/>
            <a:cxnLst/>
            <a:rect l="l" t="t" r="r" b="b"/>
            <a:pathLst>
              <a:path w="2960260" h="2956560">
                <a:moveTo>
                  <a:pt x="0" y="2956560"/>
                </a:moveTo>
                <a:lnTo>
                  <a:pt x="2960260" y="2956560"/>
                </a:lnTo>
                <a:lnTo>
                  <a:pt x="2960260" y="0"/>
                </a:lnTo>
                <a:lnTo>
                  <a:pt x="0" y="0"/>
                </a:lnTo>
                <a:lnTo>
                  <a:pt x="0" y="295656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b="-15127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159415" y="4077281"/>
            <a:ext cx="6050089" cy="4760528"/>
          </a:xfrm>
          <a:custGeom>
            <a:avLst/>
            <a:gdLst/>
            <a:ahLst/>
            <a:cxnLst/>
            <a:rect l="l" t="t" r="r" b="b"/>
            <a:pathLst>
              <a:path w="6050089" h="4760528">
                <a:moveTo>
                  <a:pt x="0" y="0"/>
                </a:moveTo>
                <a:lnTo>
                  <a:pt x="6050088" y="0"/>
                </a:lnTo>
                <a:lnTo>
                  <a:pt x="6050088" y="4760528"/>
                </a:lnTo>
                <a:lnTo>
                  <a:pt x="0" y="4760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921503" y="4077281"/>
            <a:ext cx="6050089" cy="4760528"/>
          </a:xfrm>
          <a:custGeom>
            <a:avLst/>
            <a:gdLst/>
            <a:ahLst/>
            <a:cxnLst/>
            <a:rect l="l" t="t" r="r" b="b"/>
            <a:pathLst>
              <a:path w="6050089" h="4760528">
                <a:moveTo>
                  <a:pt x="6050088" y="0"/>
                </a:moveTo>
                <a:lnTo>
                  <a:pt x="0" y="0"/>
                </a:lnTo>
                <a:lnTo>
                  <a:pt x="0" y="4760528"/>
                </a:lnTo>
                <a:lnTo>
                  <a:pt x="6050088" y="4760528"/>
                </a:lnTo>
                <a:lnTo>
                  <a:pt x="6050088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735274" y="7003400"/>
            <a:ext cx="13146511" cy="2810067"/>
          </a:xfrm>
          <a:custGeom>
            <a:avLst/>
            <a:gdLst/>
            <a:ahLst/>
            <a:cxnLst/>
            <a:rect l="l" t="t" r="r" b="b"/>
            <a:pathLst>
              <a:path w="13146511" h="2810067">
                <a:moveTo>
                  <a:pt x="0" y="0"/>
                </a:moveTo>
                <a:lnTo>
                  <a:pt x="13146511" y="0"/>
                </a:lnTo>
                <a:lnTo>
                  <a:pt x="13146511" y="2810067"/>
                </a:lnTo>
                <a:lnTo>
                  <a:pt x="0" y="28100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37897">
            <a:off x="5906965" y="7822550"/>
            <a:ext cx="14803128" cy="6130962"/>
          </a:xfrm>
          <a:custGeom>
            <a:avLst/>
            <a:gdLst/>
            <a:ahLst/>
            <a:cxnLst/>
            <a:rect l="l" t="t" r="r" b="b"/>
            <a:pathLst>
              <a:path w="14803128" h="6130962">
                <a:moveTo>
                  <a:pt x="0" y="0"/>
                </a:moveTo>
                <a:lnTo>
                  <a:pt x="14803128" y="0"/>
                </a:lnTo>
                <a:lnTo>
                  <a:pt x="14803128" y="6130963"/>
                </a:lnTo>
                <a:lnTo>
                  <a:pt x="0" y="61309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674636" y="-1491818"/>
            <a:ext cx="6524473" cy="5611047"/>
          </a:xfrm>
          <a:custGeom>
            <a:avLst/>
            <a:gdLst/>
            <a:ahLst/>
            <a:cxnLst/>
            <a:rect l="l" t="t" r="r" b="b"/>
            <a:pathLst>
              <a:path w="6524473" h="5611047">
                <a:moveTo>
                  <a:pt x="6524473" y="0"/>
                </a:moveTo>
                <a:lnTo>
                  <a:pt x="0" y="0"/>
                </a:lnTo>
                <a:lnTo>
                  <a:pt x="0" y="5611047"/>
                </a:lnTo>
                <a:lnTo>
                  <a:pt x="6524473" y="5611047"/>
                </a:lnTo>
                <a:lnTo>
                  <a:pt x="6524473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-757471" y="3580541"/>
            <a:ext cx="9299045" cy="9655786"/>
          </a:xfrm>
          <a:custGeom>
            <a:avLst/>
            <a:gdLst/>
            <a:ahLst/>
            <a:cxnLst/>
            <a:rect l="l" t="t" r="r" b="b"/>
            <a:pathLst>
              <a:path w="9299045" h="9655786">
                <a:moveTo>
                  <a:pt x="9299045" y="0"/>
                </a:moveTo>
                <a:lnTo>
                  <a:pt x="0" y="0"/>
                </a:lnTo>
                <a:lnTo>
                  <a:pt x="0" y="9655786"/>
                </a:lnTo>
                <a:lnTo>
                  <a:pt x="9299045" y="9655786"/>
                </a:lnTo>
                <a:lnTo>
                  <a:pt x="9299045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450718" y="-648522"/>
            <a:ext cx="6524473" cy="5611047"/>
          </a:xfrm>
          <a:custGeom>
            <a:avLst/>
            <a:gdLst/>
            <a:ahLst/>
            <a:cxnLst/>
            <a:rect l="l" t="t" r="r" b="b"/>
            <a:pathLst>
              <a:path w="6524473" h="5611047">
                <a:moveTo>
                  <a:pt x="0" y="0"/>
                </a:moveTo>
                <a:lnTo>
                  <a:pt x="6524473" y="0"/>
                </a:lnTo>
                <a:lnTo>
                  <a:pt x="6524473" y="5611047"/>
                </a:lnTo>
                <a:lnTo>
                  <a:pt x="0" y="56110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1513144" y="1449191"/>
            <a:ext cx="15261712" cy="7388618"/>
            <a:chOff x="0" y="0"/>
            <a:chExt cx="4019546" cy="194597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19545" cy="1945973"/>
            </a:xfrm>
            <a:custGeom>
              <a:avLst/>
              <a:gdLst/>
              <a:ahLst/>
              <a:cxnLst/>
              <a:rect l="l" t="t" r="r" b="b"/>
              <a:pathLst>
                <a:path w="4019545" h="1945973">
                  <a:moveTo>
                    <a:pt x="17247" y="0"/>
                  </a:moveTo>
                  <a:lnTo>
                    <a:pt x="4002298" y="0"/>
                  </a:lnTo>
                  <a:cubicBezTo>
                    <a:pt x="4011823" y="0"/>
                    <a:pt x="4019545" y="7722"/>
                    <a:pt x="4019545" y="17247"/>
                  </a:cubicBezTo>
                  <a:lnTo>
                    <a:pt x="4019545" y="1928726"/>
                  </a:lnTo>
                  <a:cubicBezTo>
                    <a:pt x="4019545" y="1938251"/>
                    <a:pt x="4011823" y="1945973"/>
                    <a:pt x="4002298" y="1945973"/>
                  </a:cubicBezTo>
                  <a:lnTo>
                    <a:pt x="17247" y="1945973"/>
                  </a:lnTo>
                  <a:cubicBezTo>
                    <a:pt x="7722" y="1945973"/>
                    <a:pt x="0" y="1938251"/>
                    <a:pt x="0" y="1928726"/>
                  </a:cubicBezTo>
                  <a:lnTo>
                    <a:pt x="0" y="17247"/>
                  </a:lnTo>
                  <a:cubicBezTo>
                    <a:pt x="0" y="7722"/>
                    <a:pt x="7722" y="0"/>
                    <a:pt x="1724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42875"/>
              <a:ext cx="4019546" cy="20888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30"/>
                </a:lnSpc>
              </a:pPr>
              <a:endParaRPr>
                <a:latin typeface="Verdana" panose="020B0604030504040204" charset="0"/>
                <a:cs typeface="Verdana" panose="020B0604030504040204" charset="0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002237" y="2122592"/>
            <a:ext cx="10283525" cy="187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spc="-144">
                <a:solidFill>
                  <a:srgbClr val="426546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Phon</a:t>
            </a:r>
            <a:r>
              <a:rPr lang="en-US" sz="7200" spc="-144">
                <a:solidFill>
                  <a:srgbClr val="426546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g Nam Ancient Village</a:t>
            </a:r>
            <a:endParaRPr lang="en-US" sz="7200" spc="-144">
              <a:solidFill>
                <a:srgbClr val="426546"/>
              </a:solidFill>
              <a:latin typeface="Verdana" panose="020B0604030504040204" charset="0"/>
              <a:ea typeface="Genty Sans" panose="00000600000000000000"/>
              <a:cs typeface="Verdana" panose="020B0604030504040204" charset="0"/>
              <a:sym typeface="Genty Sans" panose="000006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517494" y="3975678"/>
            <a:ext cx="15257362" cy="4744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85"/>
              </a:lnSpc>
            </a:pPr>
            <a:r>
              <a:rPr lang="en-US" sz="3600" b="1" spc="-88">
                <a:solidFill>
                  <a:srgbClr val="545454"/>
                </a:solidFill>
                <a:latin typeface="Verdana" panose="020B0604030504040204" charset="0"/>
                <a:ea typeface="Prachason Neue Mon Bold"/>
                <a:cs typeface="Verdana" panose="020B0604030504040204" charset="0"/>
                <a:sym typeface="Prachason Neue Mon Bold"/>
              </a:rPr>
              <a:t>Phong Nam Ancient Village is a century-old sanctuary just 10 km from Da Nang, preserving the pristine soul of Central Vietnam’s countryside. Behind its iconic moss-covered brick gate lies a nostalgic world of ancient communal houses, winding alleys, and serene rice fields. It is a timeless escape to experience rich history, rustic architecture, and a beautifully slow pace of life.</a:t>
            </a:r>
            <a:endParaRPr lang="en-US" sz="3600" b="1" spc="-88">
              <a:solidFill>
                <a:srgbClr val="545454"/>
              </a:solidFill>
              <a:latin typeface="Verdana" panose="020B0604030504040204" charset="0"/>
              <a:ea typeface="Prachason Neue Mon Bold"/>
              <a:cs typeface="Verdana" panose="020B0604030504040204" charset="0"/>
              <a:sym typeface="Prachason Neue Mon Bold"/>
            </a:endParaRPr>
          </a:p>
        </p:txBody>
      </p:sp>
      <p:sp>
        <p:nvSpPr>
          <p:cNvPr id="15" name="Freeform 15"/>
          <p:cNvSpPr/>
          <p:nvPr/>
        </p:nvSpPr>
        <p:spPr>
          <a:xfrm rot="5400000" flipV="1">
            <a:off x="14834881" y="2124794"/>
            <a:ext cx="1437771" cy="1435973"/>
          </a:xfrm>
          <a:custGeom>
            <a:avLst/>
            <a:gdLst/>
            <a:ahLst/>
            <a:cxnLst/>
            <a:rect l="l" t="t" r="r" b="b"/>
            <a:pathLst>
              <a:path w="1437771" h="1435973">
                <a:moveTo>
                  <a:pt x="0" y="1435973"/>
                </a:moveTo>
                <a:lnTo>
                  <a:pt x="1437771" y="1435973"/>
                </a:lnTo>
                <a:lnTo>
                  <a:pt x="1437771" y="0"/>
                </a:lnTo>
                <a:lnTo>
                  <a:pt x="0" y="0"/>
                </a:lnTo>
                <a:lnTo>
                  <a:pt x="0" y="1435973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335264" flipV="1">
            <a:off x="2512442" y="2995668"/>
            <a:ext cx="937932" cy="936759"/>
          </a:xfrm>
          <a:custGeom>
            <a:avLst/>
            <a:gdLst/>
            <a:ahLst/>
            <a:cxnLst/>
            <a:rect l="l" t="t" r="r" b="b"/>
            <a:pathLst>
              <a:path w="937932" h="936759">
                <a:moveTo>
                  <a:pt x="0" y="936759"/>
                </a:moveTo>
                <a:lnTo>
                  <a:pt x="937932" y="936759"/>
                </a:lnTo>
                <a:lnTo>
                  <a:pt x="937932" y="0"/>
                </a:lnTo>
                <a:lnTo>
                  <a:pt x="0" y="0"/>
                </a:lnTo>
                <a:lnTo>
                  <a:pt x="0" y="936759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Nhóm 15"/>
          <p:cNvGrpSpPr/>
          <p:nvPr/>
        </p:nvGrpSpPr>
        <p:grpSpPr>
          <a:xfrm>
            <a:off x="-2798445" y="0"/>
            <a:ext cx="23773765" cy="13952855"/>
            <a:chOff x="-4407" y="0"/>
            <a:chExt cx="37439" cy="21973"/>
          </a:xfrm>
        </p:grpSpPr>
        <p:sp>
          <p:nvSpPr>
            <p:cNvPr id="2" name="Freeform 2"/>
            <p:cNvSpPr/>
            <p:nvPr/>
          </p:nvSpPr>
          <p:spPr>
            <a:xfrm>
              <a:off x="0" y="0"/>
              <a:ext cx="28800" cy="16200"/>
            </a:xfrm>
            <a:custGeom>
              <a:avLst/>
              <a:gdLst/>
              <a:ahLst/>
              <a:cxnLst/>
              <a:rect l="l" t="t" r="r" b="b"/>
              <a:pathLst>
                <a:path w="18288000" h="10287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-151276"/>
              </a:stretch>
            </a:blipFill>
          </p:spPr>
          <p:txBody>
            <a:bodyPr/>
            <a:p>
              <a:endParaRPr lang="vi-VN" altLang="en-US">
                <a:latin typeface="Verdana" panose="020B0604030504040204" charset="0"/>
                <a:cs typeface="Verdana" panose="020B0604030504040204" charset="0"/>
              </a:endParaRPr>
            </a:p>
          </p:txBody>
        </p:sp>
        <p:sp>
          <p:nvSpPr>
            <p:cNvPr id="3" name="Freeform 3"/>
            <p:cNvSpPr/>
            <p:nvPr/>
          </p:nvSpPr>
          <p:spPr>
            <a:xfrm rot="159446">
              <a:off x="-1172" y="6285"/>
              <a:ext cx="29972" cy="11552"/>
            </a:xfrm>
            <a:custGeom>
              <a:avLst/>
              <a:gdLst/>
              <a:ahLst/>
              <a:cxnLst/>
              <a:rect l="l" t="t" r="r" b="b"/>
              <a:pathLst>
                <a:path w="19032465" h="7335429">
                  <a:moveTo>
                    <a:pt x="0" y="0"/>
                  </a:moveTo>
                  <a:lnTo>
                    <a:pt x="19032465" y="0"/>
                  </a:lnTo>
                  <a:lnTo>
                    <a:pt x="19032465" y="7335429"/>
                  </a:lnTo>
                  <a:lnTo>
                    <a:pt x="0" y="7335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3000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0607" y="11029"/>
              <a:ext cx="20703" cy="4425"/>
            </a:xfrm>
            <a:custGeom>
              <a:avLst/>
              <a:gdLst/>
              <a:ahLst/>
              <a:cxnLst/>
              <a:rect l="l" t="t" r="r" b="b"/>
              <a:pathLst>
                <a:path w="13146511" h="2810067">
                  <a:moveTo>
                    <a:pt x="0" y="0"/>
                  </a:moveTo>
                  <a:lnTo>
                    <a:pt x="13146511" y="0"/>
                  </a:lnTo>
                  <a:lnTo>
                    <a:pt x="13146511" y="2810067"/>
                  </a:lnTo>
                  <a:lnTo>
                    <a:pt x="0" y="281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337897">
              <a:off x="9302" y="12319"/>
              <a:ext cx="23312" cy="9655"/>
            </a:xfrm>
            <a:custGeom>
              <a:avLst/>
              <a:gdLst/>
              <a:ahLst/>
              <a:cxnLst/>
              <a:rect l="l" t="t" r="r" b="b"/>
              <a:pathLst>
                <a:path w="14803128" h="6130962">
                  <a:moveTo>
                    <a:pt x="0" y="0"/>
                  </a:moveTo>
                  <a:lnTo>
                    <a:pt x="14803128" y="0"/>
                  </a:lnTo>
                  <a:lnTo>
                    <a:pt x="14803128" y="6130963"/>
                  </a:lnTo>
                  <a:lnTo>
                    <a:pt x="0" y="6130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flipH="1">
              <a:off x="-4407" y="0"/>
              <a:ext cx="7116" cy="6120"/>
            </a:xfrm>
            <a:custGeom>
              <a:avLst/>
              <a:gdLst/>
              <a:ahLst/>
              <a:cxnLst/>
              <a:rect l="l" t="t" r="r" b="b"/>
              <a:pathLst>
                <a:path w="4518946" h="3886293">
                  <a:moveTo>
                    <a:pt x="4518946" y="0"/>
                  </a:moveTo>
                  <a:lnTo>
                    <a:pt x="0" y="0"/>
                  </a:lnTo>
                  <a:lnTo>
                    <a:pt x="0" y="3886293"/>
                  </a:lnTo>
                  <a:lnTo>
                    <a:pt x="4518946" y="3886293"/>
                  </a:lnTo>
                  <a:lnTo>
                    <a:pt x="4518946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flipH="1">
              <a:off x="-1193" y="5639"/>
              <a:ext cx="14644" cy="15206"/>
            </a:xfrm>
            <a:custGeom>
              <a:avLst/>
              <a:gdLst/>
              <a:ahLst/>
              <a:cxnLst/>
              <a:rect l="l" t="t" r="r" b="b"/>
              <a:pathLst>
                <a:path w="9299045" h="9655786">
                  <a:moveTo>
                    <a:pt x="9299045" y="0"/>
                  </a:moveTo>
                  <a:lnTo>
                    <a:pt x="0" y="0"/>
                  </a:lnTo>
                  <a:lnTo>
                    <a:pt x="0" y="9655786"/>
                  </a:lnTo>
                  <a:lnTo>
                    <a:pt x="9299045" y="9655786"/>
                  </a:lnTo>
                  <a:lnTo>
                    <a:pt x="9299045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9446" y="12061"/>
              <a:ext cx="9726" cy="4139"/>
            </a:xfrm>
            <a:custGeom>
              <a:avLst/>
              <a:gdLst/>
              <a:ahLst/>
              <a:cxnLst/>
              <a:rect l="l" t="t" r="r" b="b"/>
              <a:pathLst>
                <a:path w="6175747" h="2628201">
                  <a:moveTo>
                    <a:pt x="0" y="0"/>
                  </a:moveTo>
                  <a:lnTo>
                    <a:pt x="6175747" y="0"/>
                  </a:lnTo>
                  <a:lnTo>
                    <a:pt x="6175747" y="2628201"/>
                  </a:lnTo>
                  <a:lnTo>
                    <a:pt x="0" y="2628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flipH="1">
              <a:off x="0" y="12061"/>
              <a:ext cx="9726" cy="4139"/>
            </a:xfrm>
            <a:custGeom>
              <a:avLst/>
              <a:gdLst/>
              <a:ahLst/>
              <a:cxnLst/>
              <a:rect l="l" t="t" r="r" b="b"/>
              <a:pathLst>
                <a:path w="6175747" h="2628201">
                  <a:moveTo>
                    <a:pt x="6175747" y="0"/>
                  </a:moveTo>
                  <a:lnTo>
                    <a:pt x="0" y="0"/>
                  </a:lnTo>
                  <a:lnTo>
                    <a:pt x="0" y="2628201"/>
                  </a:lnTo>
                  <a:lnTo>
                    <a:pt x="6175747" y="2628201"/>
                  </a:lnTo>
                  <a:lnTo>
                    <a:pt x="6175747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3010" y="314"/>
              <a:ext cx="10022" cy="8619"/>
            </a:xfrm>
            <a:custGeom>
              <a:avLst/>
              <a:gdLst/>
              <a:ahLst/>
              <a:cxnLst/>
              <a:rect l="l" t="t" r="r" b="b"/>
              <a:pathLst>
                <a:path w="6363834" h="5472897">
                  <a:moveTo>
                    <a:pt x="0" y="0"/>
                  </a:moveTo>
                  <a:lnTo>
                    <a:pt x="6363834" y="0"/>
                  </a:lnTo>
                  <a:lnTo>
                    <a:pt x="6363834" y="5472897"/>
                  </a:lnTo>
                  <a:lnTo>
                    <a:pt x="0" y="5472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9840691">
              <a:off x="6380" y="2311"/>
              <a:ext cx="1632" cy="1630"/>
            </a:xfrm>
            <a:custGeom>
              <a:avLst/>
              <a:gdLst/>
              <a:ahLst/>
              <a:cxnLst/>
              <a:rect l="l" t="t" r="r" b="b"/>
              <a:pathLst>
                <a:path w="1036335" h="1035040">
                  <a:moveTo>
                    <a:pt x="0" y="0"/>
                  </a:moveTo>
                  <a:lnTo>
                    <a:pt x="1036335" y="0"/>
                  </a:lnTo>
                  <a:lnTo>
                    <a:pt x="1036335" y="1035040"/>
                  </a:lnTo>
                  <a:lnTo>
                    <a:pt x="0" y="1035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rot="6645928">
              <a:off x="24289" y="9151"/>
              <a:ext cx="1216" cy="1214"/>
            </a:xfrm>
            <a:custGeom>
              <a:avLst/>
              <a:gdLst/>
              <a:ahLst/>
              <a:cxnLst/>
              <a:rect l="l" t="t" r="r" b="b"/>
              <a:pathLst>
                <a:path w="771844" h="770880">
                  <a:moveTo>
                    <a:pt x="0" y="0"/>
                  </a:moveTo>
                  <a:lnTo>
                    <a:pt x="771845" y="0"/>
                  </a:lnTo>
                  <a:lnTo>
                    <a:pt x="771845" y="770880"/>
                  </a:lnTo>
                  <a:lnTo>
                    <a:pt x="0" y="770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15" name="TextBox 2"/>
          <p:cNvSpPr txBox="1"/>
          <p:nvPr/>
        </p:nvSpPr>
        <p:spPr>
          <a:xfrm>
            <a:off x="1371856" y="11315410"/>
            <a:ext cx="16106519" cy="23083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GROUP 2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Presentation topic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My Favourite Village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Content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Tuy Loan Ancient Village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Non Nuoc Stone Village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Cam Ne Mat Village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Phong Nam Ancient Village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Group leader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Nguyễn Trần Bảo An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Team leader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Đỗ Đình Anh Vũ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Informant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Lê Thị Kiều Anh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Nguyễn Trần Phương Uyên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Nguyễn Trần Bảo An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slide editor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Đỗ Đình Anh Vũ (highest level of participation)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Trần Chấn Phong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Nguyễn Trần Phương Uyên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l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Present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All members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THANK YOU FOR LISTENING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sz="7200" b="1" spc="-144">
                <a:solidFill>
                  <a:srgbClr val="000000"/>
                </a:solidFill>
                <a:latin typeface="Trebuchet MS" panose="020B0603020202020204" charset="0"/>
                <a:ea typeface="Genty Sans" panose="00000600000000000000"/>
                <a:cs typeface="Trebuchet MS" panose="020B0603020202020204" charset="0"/>
                <a:sym typeface="Genty Sans" panose="00000600000000000000"/>
              </a:rPr>
              <a:t>Please share your comments</a:t>
            </a:r>
            <a:endParaRPr lang="en-US" sz="7200" b="1" spc="-144">
              <a:solidFill>
                <a:srgbClr val="000000"/>
              </a:solidFill>
              <a:latin typeface="Trebuchet MS" panose="020B0603020202020204" charset="0"/>
              <a:ea typeface="Genty Sans" panose="00000600000000000000"/>
              <a:cs typeface="Trebuchet MS" panose="020B0603020202020204" charset="0"/>
              <a:sym typeface="Genty Sans" panose="00000600000000000000"/>
            </a:endParaRPr>
          </a:p>
        </p:txBody>
      </p:sp>
      <p:sp>
        <p:nvSpPr>
          <p:cNvPr id="18" name="Hộp văn bản 17"/>
          <p:cNvSpPr txBox="1"/>
          <p:nvPr/>
        </p:nvSpPr>
        <p:spPr>
          <a:xfrm>
            <a:off x="-635" y="0"/>
            <a:ext cx="1825942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ts val="7200"/>
              </a:lnSpc>
            </a:pPr>
            <a:r>
              <a:rPr lang="en-US" altLang="en-US" sz="7200" b="1" spc="-144">
                <a:solidFill>
                  <a:srgbClr val="FF0000"/>
                </a:solidFill>
                <a:latin typeface="Verdana" panose="020B0604030504040204" charset="0"/>
                <a:ea typeface="Genty Sans" panose="00000600000000000000"/>
                <a:cs typeface="Verdana" panose="020B0604030504040204" charset="0"/>
                <a:sym typeface="Genty Sans" panose="00000600000000000000"/>
              </a:rPr>
              <a:t>Please be patient and wait, It don’t take much time</a:t>
            </a:r>
            <a:endParaRPr lang="en-US" altLang="en-US" sz="7200" b="1" spc="-144">
              <a:solidFill>
                <a:srgbClr val="FF0000"/>
              </a:solidFill>
              <a:latin typeface="Verdana" panose="020B0604030504040204" charset="0"/>
              <a:ea typeface="Genty Sans" panose="00000600000000000000"/>
              <a:cs typeface="Verdana" panose="020B0604030504040204" charset="0"/>
              <a:sym typeface="Genty Sans" panose="0000060000000000000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135417 -3.12938 " pathEditMode="relative" rAng="0" ptsTypes="">
                                      <p:cBhvr>
                                        <p:cTn id="6" dur="3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-157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plus(out)">
                                      <p:cBhvr>
                                        <p:cTn id="8" dur="5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8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2321</Words>
  <Application>WPS Presentation</Application>
  <PresentationFormat>On-screen Show (4:3)</PresentationFormat>
  <Paragraphs>92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Verdana</vt:lpstr>
      <vt:lpstr>Genty Sans</vt:lpstr>
      <vt:lpstr>Segoe Print</vt:lpstr>
      <vt:lpstr>Prachason Neue Mon</vt:lpstr>
      <vt:lpstr>Cabin Bold</vt:lpstr>
      <vt:lpstr>Prachason Neue Mon Bold</vt:lpstr>
      <vt:lpstr>Trebuchet MS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about favourite village</dc:title>
  <dc:creator/>
  <cp:lastModifiedBy>Administrator</cp:lastModifiedBy>
  <cp:revision>4</cp:revision>
  <dcterms:created xsi:type="dcterms:W3CDTF">2006-08-16T00:00:00Z</dcterms:created>
  <dcterms:modified xsi:type="dcterms:W3CDTF">2026-10-09T23:50:03Z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F00036B6688144D4AC2C6A4D09A92715_13</vt:lpwstr>
  </property>
  <property fmtid="{D5CDD505-2E9C-101B-9397-08002B2CF9AE}" pid="3" name="KSOProductBuildVer">
    <vt:lpwstr>1066-12.1.0.28485</vt:lpwstr>
  </property>
</Properties>
</file>